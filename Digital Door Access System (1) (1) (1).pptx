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embeddedFontLst>
    <p:embeddedFont>
      <p:font typeface="Inter"/>
      <p:bold r:id="rId20"/>
      <p:italic r:id="rId21"/>
    </p:embeddedFont>
    <p:embeddedFont>
      <p:font typeface="Neue Haas Grotesk Text Pro" panose="020B0504020202020204" pitchFamily="34" charset="0"/>
      <p:regular r:id="rId22"/>
    </p:embeddedFont>
    <p:embeddedFont>
      <p:font typeface="Space Grotesk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jun Kireeti Nagumalli" userId="22bbfcb7a91a44b0" providerId="LiveId" clId="{F287590E-E63C-4E6C-802F-624B28724EE5}"/>
    <pc:docChg chg="custSel delSld modSld">
      <pc:chgData name="Arjun Kireeti Nagumalli" userId="22bbfcb7a91a44b0" providerId="LiveId" clId="{F287590E-E63C-4E6C-802F-624B28724EE5}" dt="2026-10-15T07:28:40.003" v="13" actId="20577"/>
      <pc:docMkLst>
        <pc:docMk/>
      </pc:docMkLst>
      <pc:sldChg chg="modSp mod">
        <pc:chgData name="Arjun Kireeti Nagumalli" userId="22bbfcb7a91a44b0" providerId="LiveId" clId="{F287590E-E63C-4E6C-802F-624B28724EE5}" dt="2026-10-15T07:24:58.300" v="3" actId="20577"/>
        <pc:sldMkLst>
          <pc:docMk/>
          <pc:sldMk cId="0" sldId="262"/>
        </pc:sldMkLst>
        <pc:spChg chg="mod">
          <ac:chgData name="Arjun Kireeti Nagumalli" userId="22bbfcb7a91a44b0" providerId="LiveId" clId="{F287590E-E63C-4E6C-802F-624B28724EE5}" dt="2026-10-15T07:24:58.300" v="3" actId="20577"/>
          <ac:spMkLst>
            <pc:docMk/>
            <pc:sldMk cId="0" sldId="262"/>
            <ac:spMk id="11" creationId="{00000000-0000-0000-0000-000000000000}"/>
          </ac:spMkLst>
        </pc:spChg>
      </pc:sldChg>
      <pc:sldChg chg="modSp mod">
        <pc:chgData name="Arjun Kireeti Nagumalli" userId="22bbfcb7a91a44b0" providerId="LiveId" clId="{F287590E-E63C-4E6C-802F-624B28724EE5}" dt="2026-10-15T07:28:40.003" v="13" actId="20577"/>
        <pc:sldMkLst>
          <pc:docMk/>
          <pc:sldMk cId="0" sldId="263"/>
        </pc:sldMkLst>
        <pc:spChg chg="mod">
          <ac:chgData name="Arjun Kireeti Nagumalli" userId="22bbfcb7a91a44b0" providerId="LiveId" clId="{F287590E-E63C-4E6C-802F-624B28724EE5}" dt="2026-10-15T07:28:40.003" v="13" actId="20577"/>
          <ac:spMkLst>
            <pc:docMk/>
            <pc:sldMk cId="0" sldId="263"/>
            <ac:spMk id="15" creationId="{00000000-0000-0000-0000-000000000000}"/>
          </ac:spMkLst>
        </pc:spChg>
      </pc:sldChg>
      <pc:sldChg chg="delSp modSp mod">
        <pc:chgData name="Arjun Kireeti Nagumalli" userId="22bbfcb7a91a44b0" providerId="LiveId" clId="{F287590E-E63C-4E6C-802F-624B28724EE5}" dt="2026-10-15T07:28:06.258" v="11" actId="1076"/>
        <pc:sldMkLst>
          <pc:docMk/>
          <pc:sldMk cId="0" sldId="266"/>
        </pc:sldMkLst>
        <pc:spChg chg="del mod">
          <ac:chgData name="Arjun Kireeti Nagumalli" userId="22bbfcb7a91a44b0" providerId="LiveId" clId="{F287590E-E63C-4E6C-802F-624B28724EE5}" dt="2026-10-15T07:27:52.268" v="9" actId="478"/>
          <ac:spMkLst>
            <pc:docMk/>
            <pc:sldMk cId="0" sldId="266"/>
            <ac:spMk id="11" creationId="{00000000-0000-0000-0000-000000000000}"/>
          </ac:spMkLst>
        </pc:spChg>
        <pc:spChg chg="del">
          <ac:chgData name="Arjun Kireeti Nagumalli" userId="22bbfcb7a91a44b0" providerId="LiveId" clId="{F287590E-E63C-4E6C-802F-624B28724EE5}" dt="2026-10-15T07:27:36.711" v="6" actId="478"/>
          <ac:spMkLst>
            <pc:docMk/>
            <pc:sldMk cId="0" sldId="266"/>
            <ac:spMk id="12" creationId="{00000000-0000-0000-0000-000000000000}"/>
          </ac:spMkLst>
        </pc:spChg>
        <pc:spChg chg="mod">
          <ac:chgData name="Arjun Kireeti Nagumalli" userId="22bbfcb7a91a44b0" providerId="LiveId" clId="{F287590E-E63C-4E6C-802F-624B28724EE5}" dt="2026-10-15T07:28:06.258" v="11" actId="1076"/>
          <ac:spMkLst>
            <pc:docMk/>
            <pc:sldMk cId="0" sldId="266"/>
            <ac:spMk id="13" creationId="{00000000-0000-0000-0000-000000000000}"/>
          </ac:spMkLst>
        </pc:spChg>
      </pc:sldChg>
      <pc:sldChg chg="del">
        <pc:chgData name="Arjun Kireeti Nagumalli" userId="22bbfcb7a91a44b0" providerId="LiveId" clId="{F287590E-E63C-4E6C-802F-624B28724EE5}" dt="2026-10-15T07:16:02.331" v="0" actId="47"/>
        <pc:sldMkLst>
          <pc:docMk/>
          <pc:sldMk cId="2300617769" sldId="273"/>
        </pc:sldMkLst>
      </pc:sldChg>
      <pc:sldChg chg="del">
        <pc:chgData name="Arjun Kireeti Nagumalli" userId="22bbfcb7a91a44b0" providerId="LiveId" clId="{F287590E-E63C-4E6C-802F-624B28724EE5}" dt="2026-10-15T07:16:11.184" v="1" actId="47"/>
        <pc:sldMkLst>
          <pc:docMk/>
          <pc:sldMk cId="3042192707" sldId="275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19:54.146"/>
    </inkml:context>
    <inkml:brush xml:id="br0">
      <inkml:brushProperty name="width" value="0.35" units="cm"/>
      <inkml:brushProperty name="height" value="0.35" units="cm"/>
      <inkml:brushProperty name="color" value="#111111"/>
    </inkml:brush>
  </inkml:definitions>
  <inkml:trace contextRef="#ctx0" brushRef="#br0">1 1 4915,'3'0'180,"6"0"0,5 0 1,3 0-1,3 0 0,-2 0-180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19:54.798"/>
    </inkml:context>
    <inkml:brush xml:id="br0">
      <inkml:brushProperty name="width" value="0.35" units="cm"/>
      <inkml:brushProperty name="height" value="0.35" units="cm"/>
      <inkml:brushProperty name="color" value="#111111"/>
    </inkml:brush>
  </inkml:definitions>
  <inkml:trace contextRef="#ctx0" brushRef="#br0">0 1 4915,'0'0'0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19:55.091"/>
    </inkml:context>
    <inkml:brush xml:id="br0">
      <inkml:brushProperty name="width" value="0.35" units="cm"/>
      <inkml:brushProperty name="height" value="0.35" units="cm"/>
      <inkml:brushProperty name="color" value="#111111"/>
    </inkml:brush>
  </inkml:definitions>
  <inkml:trace contextRef="#ctx0" brushRef="#br0">0 1 4915,'4'0'180,"1"3"0,0 2-180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19:55.859"/>
    </inkml:context>
    <inkml:brush xml:id="br0">
      <inkml:brushProperty name="width" value="0.35" units="cm"/>
      <inkml:brushProperty name="height" value="0.35" units="cm"/>
      <inkml:brushProperty name="color" value="#111111"/>
    </inkml:brush>
  </inkml:definitions>
  <inkml:trace contextRef="#ctx0" brushRef="#br0">1 1 4915,'0'0'0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19:56.177"/>
    </inkml:context>
    <inkml:brush xml:id="br0">
      <inkml:brushProperty name="width" value="0.35" units="cm"/>
      <inkml:brushProperty name="height" value="0.35" units="cm"/>
      <inkml:brushProperty name="color" value="#111111"/>
    </inkml:brush>
  </inkml:definitions>
  <inkml:trace contextRef="#ctx0" brushRef="#br0">1 32 4915,'0'-4'0,"0"-5"0,3 0 0,2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19:57.603"/>
    </inkml:context>
    <inkml:brush xml:id="br0">
      <inkml:brushProperty name="width" value="0.35" units="cm"/>
      <inkml:brushProperty name="height" value="0.35" units="cm"/>
      <inkml:brushProperty name="color" value="#111111"/>
    </inkml:brush>
  </inkml:definitions>
  <inkml:trace contextRef="#ctx0" brushRef="#br0">40 1 4915,'-4'0'180,"-4"0"0,-6 0 1,0 0-181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19:57.905"/>
    </inkml:context>
    <inkml:brush xml:id="br0">
      <inkml:brushProperty name="width" value="0.35" units="cm"/>
      <inkml:brushProperty name="height" value="0.35" units="cm"/>
      <inkml:brushProperty name="color" value="#111111"/>
    </inkml:brush>
  </inkml:definitions>
  <inkml:trace contextRef="#ctx0" brushRef="#br0">1 9 4915,'0'-4'0,"0"-1"0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19:58.110"/>
    </inkml:context>
    <inkml:brush xml:id="br0">
      <inkml:brushProperty name="width" value="0.35" units="cm"/>
      <inkml:brushProperty name="height" value="0.35" units="cm"/>
      <inkml:brushProperty name="color" value="#111111"/>
    </inkml:brush>
  </inkml:definitions>
  <inkml:trace contextRef="#ctx0" brushRef="#br0">1 74 4915,'4'0'180,"1"-4"0,3-1 1,5-4 74,-1-3-263,2-4-4,2 0 4,-1 4 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19:58.395"/>
    </inkml:context>
    <inkml:brush xml:id="br0">
      <inkml:brushProperty name="width" value="0.35" units="cm"/>
      <inkml:brushProperty name="height" value="0.35" units="cm"/>
      <inkml:brushProperty name="color" value="#111111"/>
    </inkml:brush>
  </inkml:definitions>
  <inkml:trace contextRef="#ctx0" brushRef="#br0">1 1 4915,'4'0'180,"4"4"75,6 1-75,0 3 1,1 1-1,-2 2 0,-3 4 0,1-2 0,-2 1 1,-3 3-1,-1 1 0,-3 1 0,-1-1-180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19:58.729"/>
    </inkml:context>
    <inkml:brush xml:id="br0">
      <inkml:brushProperty name="width" value="0.35" units="cm"/>
      <inkml:brushProperty name="height" value="0.35" units="cm"/>
      <inkml:brushProperty name="color" value="#111111"/>
    </inkml:brush>
  </inkml:definitions>
  <inkml:trace contextRef="#ctx0" brushRef="#br0">23 1 4915,'-3'0'180,"-6"0"0,-1 0-180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19:58.983"/>
    </inkml:context>
    <inkml:brush xml:id="br0">
      <inkml:brushProperty name="width" value="0.35" units="cm"/>
      <inkml:brushProperty name="height" value="0.35" units="cm"/>
      <inkml:brushProperty name="color" value="#111111"/>
    </inkml:brush>
  </inkml:definitions>
  <inkml:trace contextRef="#ctx0" brushRef="#br0">0 1 4915,'0'4'180,"0"4"0,0 6 1,0 3-1,0 0-180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19:59.192"/>
    </inkml:context>
    <inkml:brush xml:id="br0">
      <inkml:brushProperty name="width" value="0.35" units="cm"/>
      <inkml:brushProperty name="height" value="0.35" units="cm"/>
      <inkml:brushProperty name="color" value="#111111"/>
    </inkml:brush>
  </inkml:definitions>
  <inkml:trace contextRef="#ctx0" brushRef="#br0">1 1 4915,'3'0'180,"2"0"-180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19:59.364"/>
    </inkml:context>
    <inkml:brush xml:id="br0">
      <inkml:brushProperty name="width" value="0.35" units="cm"/>
      <inkml:brushProperty name="height" value="0.35" units="cm"/>
      <inkml:brushProperty name="color" value="#111111"/>
    </inkml:brush>
  </inkml:definitions>
  <inkml:trace contextRef="#ctx0" brushRef="#br0">0 1 4915,'4'0'180,"5"0"0,0 0-180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19:59.522"/>
    </inkml:context>
    <inkml:brush xml:id="br0">
      <inkml:brushProperty name="width" value="0.35" units="cm"/>
      <inkml:brushProperty name="height" value="0.35" units="cm"/>
      <inkml:brushProperty name="color" value="#111111"/>
    </inkml:brush>
  </inkml:definitions>
  <inkml:trace contextRef="#ctx0" brushRef="#br0">1 1 4915,'3'0'180,"2"0"-180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19:59.635"/>
    </inkml:context>
    <inkml:brush xml:id="br0">
      <inkml:brushProperty name="width" value="0.35" units="cm"/>
      <inkml:brushProperty name="height" value="0.35" units="cm"/>
      <inkml:brushProperty name="color" value="#111111"/>
    </inkml:brush>
  </inkml:definitions>
  <inkml:trace contextRef="#ctx0" brushRef="#br0">1 1 4915,'0'0'0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19:59.794"/>
    </inkml:context>
    <inkml:brush xml:id="br0">
      <inkml:brushProperty name="width" value="0.35" units="cm"/>
      <inkml:brushProperty name="height" value="0.35" units="cm"/>
      <inkml:brushProperty name="color" value="#111111"/>
    </inkml:brush>
  </inkml:definitions>
  <inkml:trace contextRef="#ctx0" brushRef="#br0">1 1 4915,'0'0'0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19:59.997"/>
    </inkml:context>
    <inkml:brush xml:id="br0">
      <inkml:brushProperty name="width" value="0.35" units="cm"/>
      <inkml:brushProperty name="height" value="0.35" units="cm"/>
      <inkml:brushProperty name="color" value="#111111"/>
    </inkml:brush>
  </inkml:definitions>
  <inkml:trace contextRef="#ctx0" brushRef="#br0">60 1 4915,'-3'0'180,"-6"0"0,-5 0 1,-3 0-1,1 0-180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20:00.204"/>
    </inkml:context>
    <inkml:brush xml:id="br0">
      <inkml:brushProperty name="width" value="0.35" units="cm"/>
      <inkml:brushProperty name="height" value="0.35" units="cm"/>
      <inkml:brushProperty name="color" value="#111111"/>
    </inkml:brush>
  </inkml:definitions>
  <inkml:trace contextRef="#ctx0" brushRef="#br0">23 1 4915,'-4'0'180,"-5"0"0,-1 0-180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20:00.365"/>
    </inkml:context>
    <inkml:brush xml:id="br0">
      <inkml:brushProperty name="width" value="0.35" units="cm"/>
      <inkml:brushProperty name="height" value="0.35" units="cm"/>
      <inkml:brushProperty name="color" value="#111111"/>
    </inkml:brush>
  </inkml:definitions>
  <inkml:trace contextRef="#ctx0" brushRef="#br0">0 1 4915,'0'0'0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20:00.506"/>
    </inkml:context>
    <inkml:brush xml:id="br0">
      <inkml:brushProperty name="width" value="0.35" units="cm"/>
      <inkml:brushProperty name="height" value="0.35" units="cm"/>
      <inkml:brushProperty name="color" value="#111111"/>
    </inkml:brush>
  </inkml:definitions>
  <inkml:trace contextRef="#ctx0" brushRef="#br0">0 1 4915,'0'4'180,"0"4"0,0 6 1,0 3-1,0 0-180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20:01.202"/>
    </inkml:context>
    <inkml:brush xml:id="br0">
      <inkml:brushProperty name="width" value="0.35" units="cm"/>
      <inkml:brushProperty name="height" value="0.35" units="cm"/>
      <inkml:brushProperty name="color" value="#111111"/>
    </inkml:brush>
  </inkml:definitions>
  <inkml:trace contextRef="#ctx0" brushRef="#br0">1 0 4915,'0'0'0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20:01.379"/>
    </inkml:context>
    <inkml:brush xml:id="br0">
      <inkml:brushProperty name="width" value="0.35" units="cm"/>
      <inkml:brushProperty name="height" value="0.35" units="cm"/>
      <inkml:brushProperty name="color" value="#111111"/>
    </inkml:brush>
  </inkml:definitions>
  <inkml:trace contextRef="#ctx0" brushRef="#br0">1 0 4915,'3'0'180,"2"0"-180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20:01.915"/>
    </inkml:context>
    <inkml:brush xml:id="br0">
      <inkml:brushProperty name="width" value="0.35" units="cm"/>
      <inkml:brushProperty name="height" value="0.35" units="cm"/>
      <inkml:brushProperty name="color" value="#111111"/>
    </inkml:brush>
  </inkml:definitions>
  <inkml:trace contextRef="#ctx0" brushRef="#br0">61 0 4915,'-4'0'180,"-5"0"0,-4 0 1,-5 0-1,2 0-180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20:02.105"/>
    </inkml:context>
    <inkml:brush xml:id="br0">
      <inkml:brushProperty name="width" value="0.35" units="cm"/>
      <inkml:brushProperty name="height" value="0.35" units="cm"/>
      <inkml:brushProperty name="color" value="#111111"/>
    </inkml:brush>
  </inkml:definitions>
  <inkml:trace contextRef="#ctx0" brushRef="#br0">105 0 4915,'-4'0'180,"-5"0"0,-4 0 1,-4 0-1,-4 0 0,0 0 0,2 0-180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20:02.328"/>
    </inkml:context>
    <inkml:brush xml:id="br0">
      <inkml:brushProperty name="width" value="0.35" units="cm"/>
      <inkml:brushProperty name="height" value="0.35" units="cm"/>
      <inkml:brushProperty name="color" value="#111111"/>
    </inkml:brush>
  </inkml:definitions>
  <inkml:trace contextRef="#ctx0" brushRef="#br0">31 0 4915,'-3'0'180,"-6"0"0,-1 4 1,1 1-181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20:03.182"/>
    </inkml:context>
    <inkml:brush xml:id="br0">
      <inkml:brushProperty name="width" value="0.35" units="cm"/>
      <inkml:brushProperty name="height" value="0.35" units="cm"/>
      <inkml:brushProperty name="color" value="#111111"/>
    </inkml:brush>
  </inkml:definitions>
  <inkml:trace contextRef="#ctx0" brushRef="#br0">0 1 4915,'0'0'0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20:03.325"/>
    </inkml:context>
    <inkml:brush xml:id="br0">
      <inkml:brushProperty name="width" value="0.35" units="cm"/>
      <inkml:brushProperty name="height" value="0.35" units="cm"/>
      <inkml:brushProperty name="color" value="#111111"/>
    </inkml:brush>
  </inkml:definitions>
  <inkml:trace contextRef="#ctx0" brushRef="#br0">0 1 4915,'4'0'180,"5"0"0,0 0-180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20:05.264"/>
    </inkml:context>
    <inkml:brush xml:id="br0">
      <inkml:brushProperty name="width" value="0.35" units="cm"/>
      <inkml:brushProperty name="height" value="0.35" units="cm"/>
      <inkml:brushProperty name="color" value="#111111"/>
    </inkml:brush>
  </inkml:definitions>
  <inkml:trace contextRef="#ctx0" brushRef="#br0">0 1 4915,'0'0'0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21:02.320"/>
    </inkml:context>
    <inkml:brush xml:id="br0">
      <inkml:brushProperty name="width" value="0.35" units="cm"/>
      <inkml:brushProperty name="height" value="0.35" units="cm"/>
      <inkml:brushProperty name="color" value="#111111"/>
    </inkml:brush>
  </inkml:definitions>
  <inkml:trace contextRef="#ctx0" brushRef="#br0">0 1 4915,'0'0'0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21:07.196"/>
    </inkml:context>
    <inkml:brush xml:id="br0">
      <inkml:brushProperty name="width" value="0.35" units="cm"/>
      <inkml:brushProperty name="height" value="0.35" units="cm"/>
      <inkml:brushProperty name="color" value="#111111"/>
    </inkml:brush>
  </inkml:definitions>
  <inkml:trace contextRef="#ctx0" brushRef="#br0">1 0 4915,'0'0'0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856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4052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823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76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4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63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217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08523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408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502242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47440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7904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0554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2264296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4880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7296200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3068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7741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2996985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60310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04804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172191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9304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7591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118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65592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83825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6133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customXml" Target="../ink/ink24.xml"/><Relationship Id="rId21" Type="http://schemas.openxmlformats.org/officeDocument/2006/relationships/image" Target="../media/image26.png"/><Relationship Id="rId34" Type="http://schemas.openxmlformats.org/officeDocument/2006/relationships/customXml" Target="../ink/ink19.xml"/><Relationship Id="rId42" Type="http://schemas.openxmlformats.org/officeDocument/2006/relationships/image" Target="../media/image32.png"/><Relationship Id="rId7" Type="http://schemas.openxmlformats.org/officeDocument/2006/relationships/customXml" Target="../ink/ink3.xml"/><Relationship Id="rId2" Type="http://schemas.openxmlformats.org/officeDocument/2006/relationships/image" Target="../media/image17.png"/><Relationship Id="rId16" Type="http://schemas.openxmlformats.org/officeDocument/2006/relationships/customXml" Target="../ink/ink8.xml"/><Relationship Id="rId29" Type="http://schemas.openxmlformats.org/officeDocument/2006/relationships/customXml" Target="../ink/ink15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9.png"/><Relationship Id="rId11" Type="http://schemas.openxmlformats.org/officeDocument/2006/relationships/image" Target="../media/image21.png"/><Relationship Id="rId24" Type="http://schemas.openxmlformats.org/officeDocument/2006/relationships/customXml" Target="../ink/ink12.xml"/><Relationship Id="rId32" Type="http://schemas.openxmlformats.org/officeDocument/2006/relationships/image" Target="../media/image30.png"/><Relationship Id="rId37" Type="http://schemas.openxmlformats.org/officeDocument/2006/relationships/customXml" Target="../ink/ink22.xml"/><Relationship Id="rId40" Type="http://schemas.openxmlformats.org/officeDocument/2006/relationships/image" Target="../media/image31.png"/><Relationship Id="rId45" Type="http://schemas.openxmlformats.org/officeDocument/2006/relationships/customXml" Target="../ink/ink28.xml"/><Relationship Id="rId5" Type="http://schemas.openxmlformats.org/officeDocument/2006/relationships/customXml" Target="../ink/ink2.xml"/><Relationship Id="rId15" Type="http://schemas.openxmlformats.org/officeDocument/2006/relationships/image" Target="../media/image23.png"/><Relationship Id="rId23" Type="http://schemas.openxmlformats.org/officeDocument/2006/relationships/image" Target="../media/image27.png"/><Relationship Id="rId28" Type="http://schemas.openxmlformats.org/officeDocument/2006/relationships/customXml" Target="../ink/ink14.xml"/><Relationship Id="rId36" Type="http://schemas.openxmlformats.org/officeDocument/2006/relationships/customXml" Target="../ink/ink21.xml"/><Relationship Id="rId10" Type="http://schemas.openxmlformats.org/officeDocument/2006/relationships/customXml" Target="../ink/ink5.xml"/><Relationship Id="rId19" Type="http://schemas.openxmlformats.org/officeDocument/2006/relationships/image" Target="../media/image25.png"/><Relationship Id="rId31" Type="http://schemas.openxmlformats.org/officeDocument/2006/relationships/customXml" Target="../ink/ink17.xml"/><Relationship Id="rId44" Type="http://schemas.openxmlformats.org/officeDocument/2006/relationships/customXml" Target="../ink/ink27.xml"/><Relationship Id="rId4" Type="http://schemas.openxmlformats.org/officeDocument/2006/relationships/image" Target="../media/image18.png"/><Relationship Id="rId9" Type="http://schemas.openxmlformats.org/officeDocument/2006/relationships/customXml" Target="../ink/ink4.xml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29.png"/><Relationship Id="rId30" Type="http://schemas.openxmlformats.org/officeDocument/2006/relationships/customXml" Target="../ink/ink16.xml"/><Relationship Id="rId35" Type="http://schemas.openxmlformats.org/officeDocument/2006/relationships/customXml" Target="../ink/ink20.xml"/><Relationship Id="rId43" Type="http://schemas.openxmlformats.org/officeDocument/2006/relationships/customXml" Target="../ink/ink26.xml"/><Relationship Id="rId8" Type="http://schemas.openxmlformats.org/officeDocument/2006/relationships/image" Target="../media/image20.png"/><Relationship Id="rId3" Type="http://schemas.openxmlformats.org/officeDocument/2006/relationships/customXml" Target="../ink/ink1.xml"/><Relationship Id="rId12" Type="http://schemas.openxmlformats.org/officeDocument/2006/relationships/customXml" Target="../ink/ink6.xml"/><Relationship Id="rId17" Type="http://schemas.openxmlformats.org/officeDocument/2006/relationships/image" Target="../media/image24.png"/><Relationship Id="rId25" Type="http://schemas.openxmlformats.org/officeDocument/2006/relationships/image" Target="../media/image28.png"/><Relationship Id="rId33" Type="http://schemas.openxmlformats.org/officeDocument/2006/relationships/customXml" Target="../ink/ink18.xml"/><Relationship Id="rId38" Type="http://schemas.openxmlformats.org/officeDocument/2006/relationships/customXml" Target="../ink/ink23.xml"/><Relationship Id="rId20" Type="http://schemas.openxmlformats.org/officeDocument/2006/relationships/customXml" Target="../ink/ink10.xml"/><Relationship Id="rId41" Type="http://schemas.openxmlformats.org/officeDocument/2006/relationships/customXml" Target="../ink/ink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5.xml"/><Relationship Id="rId6" Type="http://schemas.openxmlformats.org/officeDocument/2006/relationships/customXml" Target="../ink/ink30.xml"/><Relationship Id="rId5" Type="http://schemas.openxmlformats.org/officeDocument/2006/relationships/image" Target="../media/image19.png"/><Relationship Id="rId4" Type="http://schemas.openxmlformats.org/officeDocument/2006/relationships/customXml" Target="../ink/ink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8865" y="1618357"/>
            <a:ext cx="10715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0B981"/>
                </a:solidFill>
                <a:latin typeface="Space Grotesk"/>
              </a:rPr>
              <a:t>DDCA / DIGITAL ELECTRONICS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8865" y="1942207"/>
            <a:ext cx="9101137" cy="117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4200" b="1" i="0" u="none">
                <a:solidFill>
                  <a:srgbClr val="F9FAFB"/>
                </a:solidFill>
                <a:latin typeface="Space Grotesk"/>
              </a:rPr>
              <a:t>Design and Simulation of a Digital Door Access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865" y="3344167"/>
            <a:ext cx="11251406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D1D5DB"/>
                </a:solidFill>
                <a:latin typeface="Space Grotesk"/>
              </a:rPr>
              <a:t>Using Combinational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052" y="4351976"/>
            <a:ext cx="4714367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000" b="1" i="0" u="none" dirty="0">
                <a:solidFill>
                  <a:srgbClr val="9CA3AF"/>
                </a:solidFill>
                <a:latin typeface="Inter"/>
              </a:rPr>
              <a:t>Team</a:t>
            </a:r>
            <a:r>
              <a:rPr sz="2000" b="1" i="0" u="none" dirty="0">
                <a:solidFill>
                  <a:srgbClr val="9CA3AF"/>
                </a:solidFill>
                <a:latin typeface="Inter"/>
              </a:rPr>
              <a:t>: </a:t>
            </a:r>
            <a:r>
              <a:rPr lang="en-US" sz="2000" b="1" dirty="0">
                <a:solidFill>
                  <a:srgbClr val="9CA3AF"/>
                </a:solidFill>
                <a:latin typeface="Inter"/>
              </a:rPr>
              <a:t>Arjun, Joshi, Praneeth, </a:t>
            </a:r>
            <a:r>
              <a:rPr lang="en-US" sz="2000" b="1" dirty="0" err="1">
                <a:solidFill>
                  <a:srgbClr val="9CA3AF"/>
                </a:solidFill>
                <a:latin typeface="Inter"/>
              </a:rPr>
              <a:t>Gnanavardhan</a:t>
            </a:r>
            <a:endParaRPr sz="2000" b="1" i="0" u="none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052" y="4994953"/>
            <a:ext cx="1130576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 u="none" dirty="0">
                <a:solidFill>
                  <a:srgbClr val="9CA3AF"/>
                </a:solidFill>
                <a:latin typeface="Inter"/>
              </a:rPr>
              <a:t>Roll No: </a:t>
            </a:r>
            <a:r>
              <a:rPr lang="en-US" sz="1600" b="1" dirty="0">
                <a:solidFill>
                  <a:srgbClr val="9CA3AF"/>
                </a:solidFill>
                <a:latin typeface="Inter"/>
              </a:rPr>
              <a:t>2620040117, 2620090010, 2620090012, 2620090133</a:t>
            </a:r>
            <a:endParaRPr sz="1600" b="1" i="0" u="none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90290" y="5702190"/>
            <a:ext cx="2293898" cy="6771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400" b="1" i="0" u="none" dirty="0">
                <a:solidFill>
                  <a:srgbClr val="9CA3AF"/>
                </a:solidFill>
                <a:latin typeface="Inter"/>
              </a:rPr>
              <a:t>Section:</a:t>
            </a:r>
            <a:r>
              <a:rPr sz="4400" b="0" i="0" u="none" dirty="0">
                <a:solidFill>
                  <a:srgbClr val="9CA3AF"/>
                </a:solidFill>
                <a:latin typeface="Inter"/>
              </a:rPr>
              <a:t> </a:t>
            </a:r>
            <a:r>
              <a:rPr lang="en-US" sz="4400" dirty="0">
                <a:solidFill>
                  <a:srgbClr val="9CA3AF"/>
                </a:solidFill>
                <a:latin typeface="Inter"/>
              </a:rPr>
              <a:t>5</a:t>
            </a:r>
            <a:endParaRPr sz="4400" b="0" i="0" u="none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69555" y="4505864"/>
            <a:ext cx="2995885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9CA3AF"/>
                </a:solidFill>
                <a:latin typeface="Inter"/>
              </a:rPr>
              <a:t>Faculty: </a:t>
            </a:r>
            <a:r>
              <a:rPr lang="en-US" sz="2000" b="1" dirty="0">
                <a:solidFill>
                  <a:srgbClr val="9CA3AF"/>
                </a:solidFill>
                <a:latin typeface="Inter"/>
              </a:rPr>
              <a:t>Dr. Venkat </a:t>
            </a:r>
            <a:r>
              <a:rPr lang="en-US" sz="2000" b="1" dirty="0" err="1">
                <a:solidFill>
                  <a:srgbClr val="9CA3AF"/>
                </a:solidFill>
                <a:latin typeface="Inter"/>
              </a:rPr>
              <a:t>Isampalli</a:t>
            </a:r>
            <a:endParaRPr sz="2000" b="1" i="0" u="none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69555" y="5125638"/>
            <a:ext cx="287059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9CA3AF"/>
                </a:solidFill>
                <a:latin typeface="Inter"/>
              </a:rPr>
              <a:t>Institution: </a:t>
            </a:r>
            <a:r>
              <a:rPr lang="en-US" sz="2000" b="1" dirty="0">
                <a:solidFill>
                  <a:srgbClr val="9CA3AF"/>
                </a:solidFill>
                <a:latin typeface="Inter"/>
              </a:rPr>
              <a:t>KLH University</a:t>
            </a:r>
            <a:r>
              <a:rPr sz="2000" b="1" i="0" u="none" dirty="0">
                <a:solidFill>
                  <a:srgbClr val="9CA3AF"/>
                </a:solidFill>
                <a:latin typeface="Inter"/>
              </a:rPr>
              <a:t>]</a:t>
            </a:r>
          </a:p>
        </p:txBody>
      </p:sp>
      <p:pic>
        <p:nvPicPr>
          <p:cNvPr id="11" name="Picture 10" descr="DEEMED TO BE U NIVERSITY&#10;&#10;AI-generated content may be incorrect.">
            <a:extLst>
              <a:ext uri="{FF2B5EF4-FFF2-40B4-BE49-F238E27FC236}">
                <a16:creationId xmlns:a16="http://schemas.microsoft.com/office/drawing/2014/main" id="{11AE2FDB-DD50-7CEB-7AB2-3CFA09EC0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7990" y="380283"/>
            <a:ext cx="2733675" cy="1171575"/>
          </a:xfrm>
          <a:prstGeom prst="rect">
            <a:avLst/>
          </a:prstGeom>
        </p:spPr>
      </p:pic>
      <p:pic>
        <p:nvPicPr>
          <p:cNvPr id="13" name="Picture 12" descr="The image depicts a digital door access system design, featuring a truth table, K-Map simplification, and logic verification elements.&#10;&#10;AI-generated content may be incorrect.">
            <a:extLst>
              <a:ext uri="{FF2B5EF4-FFF2-40B4-BE49-F238E27FC236}">
                <a16:creationId xmlns:a16="http://schemas.microsoft.com/office/drawing/2014/main" id="{5E51A385-AF44-EA48-D176-DF632BC63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946" y="14863"/>
            <a:ext cx="12316946" cy="6858000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C12F0EC-59EB-1460-7AEF-2F6C81892CFD}"/>
              </a:ext>
            </a:extLst>
          </p:cNvPr>
          <p:cNvSpPr/>
          <p:nvPr/>
        </p:nvSpPr>
        <p:spPr>
          <a:xfrm>
            <a:off x="9207912" y="5420830"/>
            <a:ext cx="2870593" cy="1317242"/>
          </a:xfrm>
          <a:prstGeom prst="roundRect">
            <a:avLst/>
          </a:prstGeom>
          <a:solidFill>
            <a:srgbClr val="002060">
              <a:alpha val="88000"/>
            </a:srgbClr>
          </a:solidFill>
          <a:effectLst>
            <a:outerShdw blurRad="254000" dist="50800" dir="5400000" sx="25000" sy="25000" algn="ctr" rotWithShape="0">
              <a:srgbClr val="000000">
                <a:alpha val="43137"/>
              </a:srgbClr>
            </a:outerShdw>
            <a:softEdge rad="152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Rounded Rectangle 2">
            <a:extLst>
              <a:ext uri="{FF2B5EF4-FFF2-40B4-BE49-F238E27FC236}">
                <a16:creationId xmlns:a16="http://schemas.microsoft.com/office/drawing/2014/main" id="{1A317179-75FF-FDEF-30BC-F26D4EF554A6}"/>
              </a:ext>
            </a:extLst>
          </p:cNvPr>
          <p:cNvSpPr/>
          <p:nvPr/>
        </p:nvSpPr>
        <p:spPr>
          <a:xfrm>
            <a:off x="9148836" y="5471364"/>
            <a:ext cx="2870593" cy="1266708"/>
          </a:xfrm>
          <a:prstGeom prst="roundRect">
            <a:avLst>
              <a:gd name="adj" fmla="val 4095"/>
            </a:avLst>
          </a:prstGeom>
          <a:solidFill>
            <a:srgbClr val="111827"/>
          </a:solidFill>
          <a:ln>
            <a:noFill/>
          </a:ln>
          <a:effectLst>
            <a:outerShdw blurRad="50800" dist="50800" dir="4200000" algn="ctr" rotWithShape="0">
              <a:srgbClr val="000000">
                <a:alpha val="4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DEEMED TO BE U NIVERSITY&#10;&#10;AI-generated content may be incorrect.">
            <a:extLst>
              <a:ext uri="{FF2B5EF4-FFF2-40B4-BE49-F238E27FC236}">
                <a16:creationId xmlns:a16="http://schemas.microsoft.com/office/drawing/2014/main" id="{C712B685-F0C3-AD27-B94F-CBD72F124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4852" y="5518930"/>
            <a:ext cx="2733675" cy="117157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CFCCDD6-F0FF-7F54-4413-85F6840530DA}"/>
              </a:ext>
            </a:extLst>
          </p:cNvPr>
          <p:cNvSpPr txBox="1"/>
          <p:nvPr/>
        </p:nvSpPr>
        <p:spPr>
          <a:xfrm>
            <a:off x="2454689" y="4872599"/>
            <a:ext cx="182628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Roll No: 2620040117, 2620090133, 2620090012, 2620090010</a:t>
            </a:r>
            <a:endParaRPr lang="en-IN" dirty="0">
              <a:solidFill>
                <a:schemeClr val="tx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illustrates a digital logic solution for secure access, detailing the need for a system that replaces physical keys with a reliable, condition-based, and secure digital method to address vulnerabilities and optimize access control.&#10;&#10;AI-generated content may be incorrect.">
            <a:extLst>
              <a:ext uri="{FF2B5EF4-FFF2-40B4-BE49-F238E27FC236}">
                <a16:creationId xmlns:a16="http://schemas.microsoft.com/office/drawing/2014/main" id="{AECD0F6F-9F77-E6F7-0377-A78F6BEA8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13155524-403B-CE61-DA4E-551FCD2F2D93}"/>
              </a:ext>
            </a:extLst>
          </p:cNvPr>
          <p:cNvGrpSpPr/>
          <p:nvPr/>
        </p:nvGrpSpPr>
        <p:grpSpPr>
          <a:xfrm>
            <a:off x="11561150" y="6233619"/>
            <a:ext cx="207360" cy="141120"/>
            <a:chOff x="11561150" y="6233619"/>
            <a:chExt cx="207360" cy="14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D2B49D0-69FF-2DB9-EABA-3ACD706F42C8}"/>
                    </a:ext>
                  </a:extLst>
                </p14:cNvPr>
                <p14:cNvContentPartPr/>
                <p14:nvPr/>
              </p14:nvContentPartPr>
              <p14:xfrm>
                <a:off x="11616590" y="6352779"/>
                <a:ext cx="29520" cy="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D2B49D0-69FF-2DB9-EABA-3ACD706F42C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553950" y="6290139"/>
                  <a:ext cx="1551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5E4EDC9-74F2-B381-F770-B94C8B904DF4}"/>
                    </a:ext>
                  </a:extLst>
                </p14:cNvPr>
                <p14:cNvContentPartPr/>
                <p14:nvPr/>
              </p14:nvContentPartPr>
              <p14:xfrm>
                <a:off x="11648630" y="6336939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5E4EDC9-74F2-B381-F770-B94C8B904DF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585630" y="6274299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837BFC4-C641-3E4E-CCB7-787EFA6C0212}"/>
                    </a:ext>
                  </a:extLst>
                </p14:cNvPr>
                <p14:cNvContentPartPr/>
                <p14:nvPr/>
              </p14:nvContentPartPr>
              <p14:xfrm>
                <a:off x="11648630" y="6336939"/>
                <a:ext cx="5400" cy="3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837BFC4-C641-3E4E-CCB7-787EFA6C021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585630" y="6274299"/>
                  <a:ext cx="1310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D5DEFD7-23D8-79C3-ABA7-044B9B90CA60}"/>
                    </a:ext>
                  </a:extLst>
                </p14:cNvPr>
                <p14:cNvContentPartPr/>
                <p14:nvPr/>
              </p14:nvContentPartPr>
              <p14:xfrm>
                <a:off x="11608670" y="6344859"/>
                <a:ext cx="360" cy="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D5DEFD7-23D8-79C3-ABA7-044B9B90CA6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546030" y="6282219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2E36DBE-6F05-FB8E-416E-0AEEFCBC0C98}"/>
                    </a:ext>
                  </a:extLst>
                </p14:cNvPr>
                <p14:cNvContentPartPr/>
                <p14:nvPr/>
              </p14:nvContentPartPr>
              <p14:xfrm>
                <a:off x="11608670" y="6333699"/>
                <a:ext cx="3600" cy="11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2E36DBE-6F05-FB8E-416E-0AEEFCBC0C9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546030" y="6271059"/>
                  <a:ext cx="1292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42569A7-96CC-A471-603C-36476169944E}"/>
                    </a:ext>
                  </a:extLst>
                </p14:cNvPr>
                <p14:cNvContentPartPr/>
                <p14:nvPr/>
              </p14:nvContentPartPr>
              <p14:xfrm>
                <a:off x="11634230" y="6360699"/>
                <a:ext cx="14760" cy="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42569A7-96CC-A471-603C-36476169944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571230" y="6298059"/>
                  <a:ext cx="1404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1AA0F53-B8F2-025C-2918-BE017DCB5CBE}"/>
                    </a:ext>
                  </a:extLst>
                </p14:cNvPr>
                <p14:cNvContentPartPr/>
                <p14:nvPr/>
              </p14:nvContentPartPr>
              <p14:xfrm>
                <a:off x="11624510" y="6349899"/>
                <a:ext cx="360" cy="3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1AA0F53-B8F2-025C-2918-BE017DCB5CB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561870" y="6286899"/>
                  <a:ext cx="1260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AD66373-34E2-1808-C032-BB53EA287533}"/>
                    </a:ext>
                  </a:extLst>
                </p14:cNvPr>
                <p14:cNvContentPartPr/>
                <p14:nvPr/>
              </p14:nvContentPartPr>
              <p14:xfrm>
                <a:off x="11624510" y="6310659"/>
                <a:ext cx="31680" cy="27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AD66373-34E2-1808-C032-BB53EA28753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561870" y="6247659"/>
                  <a:ext cx="1573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D1ADD9A-55E8-6E84-F9A9-6F996E83E2E3}"/>
                    </a:ext>
                  </a:extLst>
                </p14:cNvPr>
                <p14:cNvContentPartPr/>
                <p14:nvPr/>
              </p14:nvContentPartPr>
              <p14:xfrm>
                <a:off x="11727830" y="6265299"/>
                <a:ext cx="40680" cy="54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D1ADD9A-55E8-6E84-F9A9-6F996E83E2E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665190" y="6202659"/>
                  <a:ext cx="1663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89658B4-EE6B-66AF-AB38-DEA98633E8BA}"/>
                    </a:ext>
                  </a:extLst>
                </p14:cNvPr>
                <p14:cNvContentPartPr/>
                <p14:nvPr/>
              </p14:nvContentPartPr>
              <p14:xfrm>
                <a:off x="11656190" y="6233619"/>
                <a:ext cx="828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89658B4-EE6B-66AF-AB38-DEA98633E8B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593550" y="6170979"/>
                  <a:ext cx="133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002429D-460F-96A1-3595-68AA2B857EFD}"/>
                    </a:ext>
                  </a:extLst>
                </p14:cNvPr>
                <p14:cNvContentPartPr/>
                <p14:nvPr/>
              </p14:nvContentPartPr>
              <p14:xfrm>
                <a:off x="11584910" y="6265299"/>
                <a:ext cx="360" cy="21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002429D-460F-96A1-3595-68AA2B857EF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521910" y="6202659"/>
                  <a:ext cx="1260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61A8CFD-AFA7-A994-BF58-E894BD96D2F5}"/>
                    </a:ext>
                  </a:extLst>
                </p14:cNvPr>
                <p14:cNvContentPartPr/>
                <p14:nvPr/>
              </p14:nvContentPartPr>
              <p14:xfrm>
                <a:off x="11616590" y="6329019"/>
                <a:ext cx="360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61A8CFD-AFA7-A994-BF58-E894BD96D2F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553950" y="6266379"/>
                  <a:ext cx="1292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685363B-5279-F981-7A25-D14BA6A541E4}"/>
                    </a:ext>
                  </a:extLst>
                </p14:cNvPr>
                <p14:cNvContentPartPr/>
                <p14:nvPr/>
              </p14:nvContentPartPr>
              <p14:xfrm>
                <a:off x="11656550" y="6344859"/>
                <a:ext cx="828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685363B-5279-F981-7A25-D14BA6A541E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593550" y="6282219"/>
                  <a:ext cx="133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05B1C1F-35F1-549E-9197-DF605983FDB7}"/>
                    </a:ext>
                  </a:extLst>
                </p14:cNvPr>
                <p14:cNvContentPartPr/>
                <p14:nvPr/>
              </p14:nvContentPartPr>
              <p14:xfrm>
                <a:off x="11688230" y="6344859"/>
                <a:ext cx="360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05B1C1F-35F1-549E-9197-DF605983FDB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625590" y="6282219"/>
                  <a:ext cx="1292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79270D8-A6FE-8130-A7DF-C5D42A98FB4B}"/>
                    </a:ext>
                  </a:extLst>
                </p14:cNvPr>
                <p14:cNvContentPartPr/>
                <p14:nvPr/>
              </p14:nvContentPartPr>
              <p14:xfrm>
                <a:off x="11696150" y="6352779"/>
                <a:ext cx="36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79270D8-A6FE-8130-A7DF-C5D42A98FB4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633510" y="6290139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7CC1D77-D33B-1AEE-1E1D-5C32C16DA0A5}"/>
                    </a:ext>
                  </a:extLst>
                </p14:cNvPr>
                <p14:cNvContentPartPr/>
                <p14:nvPr/>
              </p14:nvContentPartPr>
              <p14:xfrm>
                <a:off x="11696150" y="6352779"/>
                <a:ext cx="360" cy="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7CC1D77-D33B-1AEE-1E1D-5C32C16DA0A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633510" y="6290139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7D04011-C74F-F06F-965D-B1F1A627C00B}"/>
                    </a:ext>
                  </a:extLst>
                </p14:cNvPr>
                <p14:cNvContentPartPr/>
                <p14:nvPr/>
              </p14:nvContentPartPr>
              <p14:xfrm>
                <a:off x="11658710" y="6352779"/>
                <a:ext cx="2196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7D04011-C74F-F06F-965D-B1F1A627C00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596070" y="6290139"/>
                  <a:ext cx="1476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25FDA7E-EDF7-A140-8531-EF41E87F20E3}"/>
                    </a:ext>
                  </a:extLst>
                </p14:cNvPr>
                <p14:cNvContentPartPr/>
                <p14:nvPr/>
              </p14:nvContentPartPr>
              <p14:xfrm>
                <a:off x="11592830" y="6352779"/>
                <a:ext cx="8280" cy="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25FDA7E-EDF7-A140-8531-EF41E87F20E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529830" y="6290139"/>
                  <a:ext cx="133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5FCFC70-7A5E-75AF-1515-316826366B51}"/>
                    </a:ext>
                  </a:extLst>
                </p14:cNvPr>
                <p14:cNvContentPartPr/>
                <p14:nvPr/>
              </p14:nvContentPartPr>
              <p14:xfrm>
                <a:off x="11584910" y="6352779"/>
                <a:ext cx="360" cy="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5FCFC70-7A5E-75AF-1515-316826366B5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521910" y="6290139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E06F029-C80E-2D79-C049-92C0E1CB6881}"/>
                    </a:ext>
                  </a:extLst>
                </p14:cNvPr>
                <p14:cNvContentPartPr/>
                <p14:nvPr/>
              </p14:nvContentPartPr>
              <p14:xfrm>
                <a:off x="11584910" y="6352779"/>
                <a:ext cx="360" cy="21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E06F029-C80E-2D79-C049-92C0E1CB688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521910" y="6290139"/>
                  <a:ext cx="1260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0338A28-AA15-FC6C-3C18-C8DEC2CD4F5A}"/>
                    </a:ext>
                  </a:extLst>
                </p14:cNvPr>
                <p14:cNvContentPartPr/>
                <p14:nvPr/>
              </p14:nvContentPartPr>
              <p14:xfrm>
                <a:off x="11616590" y="6297339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0338A28-AA15-FC6C-3C18-C8DEC2CD4F5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553950" y="6234339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1C2C790-6B10-844E-5100-1F7974F95663}"/>
                    </a:ext>
                  </a:extLst>
                </p14:cNvPr>
                <p14:cNvContentPartPr/>
                <p14:nvPr/>
              </p14:nvContentPartPr>
              <p14:xfrm>
                <a:off x="11616590" y="6297339"/>
                <a:ext cx="360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1C2C790-6B10-844E-5100-1F7974F9566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553950" y="6234339"/>
                  <a:ext cx="1292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0BCD2CE-6C9F-3390-D1F8-D1B86EF4CF78}"/>
                    </a:ext>
                  </a:extLst>
                </p14:cNvPr>
                <p14:cNvContentPartPr/>
                <p14:nvPr/>
              </p14:nvContentPartPr>
              <p14:xfrm>
                <a:off x="11674550" y="6289419"/>
                <a:ext cx="21960" cy="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0BCD2CE-6C9F-3390-D1F8-D1B86EF4CF7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611910" y="6226419"/>
                  <a:ext cx="1476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CC88D99-9EDC-679F-EA9A-BB96B081C45F}"/>
                    </a:ext>
                  </a:extLst>
                </p14:cNvPr>
                <p14:cNvContentPartPr/>
                <p14:nvPr/>
              </p14:nvContentPartPr>
              <p14:xfrm>
                <a:off x="11594990" y="6289419"/>
                <a:ext cx="37800" cy="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CC88D99-9EDC-679F-EA9A-BB96B081C45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532350" y="6226419"/>
                  <a:ext cx="1634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1E1CDB7-891E-5D94-88DB-20838156186F}"/>
                    </a:ext>
                  </a:extLst>
                </p14:cNvPr>
                <p14:cNvContentPartPr/>
                <p14:nvPr/>
              </p14:nvContentPartPr>
              <p14:xfrm>
                <a:off x="11565830" y="6289419"/>
                <a:ext cx="11520" cy="36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1E1CDB7-891E-5D94-88DB-20838156186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502830" y="6226419"/>
                  <a:ext cx="1371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C7538F0-D77F-00CB-027F-F999FCD075E3}"/>
                    </a:ext>
                  </a:extLst>
                </p14:cNvPr>
                <p14:cNvContentPartPr/>
                <p14:nvPr/>
              </p14:nvContentPartPr>
              <p14:xfrm>
                <a:off x="11561150" y="6336939"/>
                <a:ext cx="36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C7538F0-D77F-00CB-027F-F999FCD075E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498150" y="6274299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45E91FF-0AD1-1FB3-305A-7556C3A1326B}"/>
                    </a:ext>
                  </a:extLst>
                </p14:cNvPr>
                <p14:cNvContentPartPr/>
                <p14:nvPr/>
              </p14:nvContentPartPr>
              <p14:xfrm>
                <a:off x="11561150" y="6336939"/>
                <a:ext cx="8280" cy="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45E91FF-0AD1-1FB3-305A-7556C3A1326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498150" y="6274299"/>
                  <a:ext cx="13392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A88716D-29EC-CF27-A524-8677D828A350}"/>
                  </a:ext>
                </a:extLst>
              </p14:cNvPr>
              <p14:cNvContentPartPr/>
              <p14:nvPr/>
            </p14:nvContentPartPr>
            <p14:xfrm>
              <a:off x="12403910" y="4531899"/>
              <a:ext cx="36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A88716D-29EC-CF27-A524-8677D828A35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340910" y="4469259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5108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247775"/>
            <a:ext cx="10972800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170015"/>
            <a:ext cx="5334000" cy="1343025"/>
          </a:xfrm>
          <a:prstGeom prst="roundRect">
            <a:avLst>
              <a:gd name="adj" fmla="val 5673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2690812"/>
            <a:ext cx="5334000" cy="7620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48400" y="3605212"/>
            <a:ext cx="5334000" cy="7620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48400" y="4519612"/>
            <a:ext cx="5334000" cy="7620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170015"/>
            <a:ext cx="53340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919412"/>
            <a:ext cx="3429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3833812"/>
            <a:ext cx="2667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4748212"/>
            <a:ext cx="3048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609600"/>
            <a:ext cx="1158240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Space Grotesk"/>
              </a:rPr>
              <a:t>System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459384"/>
            <a:ext cx="66675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1" i="0" u="none">
                <a:solidFill>
                  <a:srgbClr val="111827"/>
                </a:solidFill>
                <a:latin typeface="Inter"/>
              </a:rPr>
              <a:t>Automated access via combinational logic.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007965"/>
            <a:ext cx="54292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B5563"/>
                </a:solidFill>
                <a:latin typeface="Inter"/>
              </a:rPr>
              <a:t>Four binary inputs represent distinct security conditions. The system evaluates these inputs simultaneously to output a final access decision.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12915"/>
            <a:ext cx="62007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111827"/>
                </a:solidFill>
                <a:latin typeface="Space Grotesk"/>
              </a:rPr>
              <a:t>Security Guard Analogy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08190"/>
            <a:ext cx="48196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11827"/>
                </a:solidFill>
                <a:latin typeface="Inter"/>
              </a:rPr>
              <a:t>If every required condition is satisfied, access is granted. If even one condition fails, access is denied.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2300" y="2957512"/>
            <a:ext cx="21193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11827"/>
                </a:solidFill>
                <a:latin typeface="Inter"/>
              </a:rPr>
              <a:t>Four binary inputs.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96100" y="3871912"/>
            <a:ext cx="21193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11827"/>
                </a:solidFill>
                <a:latin typeface="Inter"/>
              </a:rPr>
              <a:t>Input 2 is inverted.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4200" y="4786312"/>
            <a:ext cx="317896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11827"/>
                </a:solidFill>
                <a:latin typeface="Inter"/>
              </a:rPr>
              <a:t>Evaluated by one AND gate.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247775"/>
            <a:ext cx="10972800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2771775"/>
            <a:ext cx="42672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181600" y="2652712"/>
            <a:ext cx="3086100" cy="1219200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96300" y="2652712"/>
            <a:ext cx="3086100" cy="1219200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181600" y="4100512"/>
            <a:ext cx="3086100" cy="1219200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96300" y="4100512"/>
            <a:ext cx="3086100" cy="1219200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81600" y="2652712"/>
            <a:ext cx="38100" cy="1219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96300" y="2652712"/>
            <a:ext cx="38100" cy="1219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181600" y="4100512"/>
            <a:ext cx="38100" cy="1219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96300" y="4100512"/>
            <a:ext cx="38100" cy="1219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0" y="2957512"/>
            <a:ext cx="200025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0" y="2957512"/>
            <a:ext cx="200025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4405312"/>
            <a:ext cx="257175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9200" y="4405312"/>
            <a:ext cx="257175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609600"/>
            <a:ext cx="1158240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Space Grotesk"/>
              </a:rPr>
              <a:t>Why Combinational Logic?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1724025"/>
            <a:ext cx="56007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pace Grotesk"/>
              </a:rPr>
              <a:t>Combinational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2181225"/>
            <a:ext cx="53340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111827"/>
                </a:solidFill>
                <a:latin typeface="Inter"/>
              </a:rPr>
              <a:t>Output depends </a:t>
            </a:r>
            <a:r>
              <a:rPr sz="1500" b="1" i="0" u="none">
                <a:solidFill>
                  <a:srgbClr val="111827"/>
                </a:solidFill>
                <a:latin typeface="Inter"/>
              </a:rPr>
              <a:t>only</a:t>
            </a:r>
            <a:r>
              <a:rPr sz="1500" b="0" i="0" u="none">
                <a:solidFill>
                  <a:srgbClr val="111827"/>
                </a:solidFill>
                <a:latin typeface="Inter"/>
              </a:rPr>
              <a:t> on present inputs.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3086100"/>
            <a:ext cx="56007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4B5563"/>
                </a:solidFill>
                <a:latin typeface="Space Grotesk"/>
              </a:rPr>
              <a:t>Sequential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3543300"/>
            <a:ext cx="4362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B5563"/>
                </a:solidFill>
                <a:latin typeface="Inter"/>
              </a:rPr>
              <a:t>Output depends on present inputs </a:t>
            </a:r>
            <a:r>
              <a:rPr sz="1500" b="0" i="1" u="none">
                <a:solidFill>
                  <a:srgbClr val="4B5563"/>
                </a:solidFill>
                <a:latin typeface="Inter"/>
              </a:rPr>
              <a:t>and</a:t>
            </a:r>
            <a:r>
              <a:rPr sz="1500" b="0" i="0" u="none">
                <a:solidFill>
                  <a:srgbClr val="4B5563"/>
                </a:solidFill>
                <a:latin typeface="Inter"/>
              </a:rPr>
              <a:t> previous states.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4500" y="3338512"/>
            <a:ext cx="3048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11827"/>
                </a:solidFill>
                <a:latin typeface="Inter"/>
              </a:rPr>
              <a:t>Instant response.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39200" y="3338512"/>
            <a:ext cx="3048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11827"/>
                </a:solidFill>
                <a:latin typeface="Inter"/>
              </a:rPr>
              <a:t>No clock required.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24500" y="4786312"/>
            <a:ext cx="3048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11827"/>
                </a:solidFill>
                <a:latin typeface="Inter"/>
              </a:rPr>
              <a:t>No memory needed.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9200" y="4786312"/>
            <a:ext cx="3048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11827"/>
                </a:solidFill>
                <a:latin typeface="Inter"/>
              </a:rPr>
              <a:t>Direct I/O relationship.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247775"/>
            <a:ext cx="10972800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629025"/>
            <a:ext cx="2571750" cy="1743075"/>
          </a:xfrm>
          <a:prstGeom prst="roundRect">
            <a:avLst>
              <a:gd name="adj" fmla="val 4371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9950" y="3490912"/>
            <a:ext cx="2571750" cy="2019300"/>
          </a:xfrm>
          <a:prstGeom prst="roundRect">
            <a:avLst>
              <a:gd name="adj" fmla="val 3773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3629025"/>
            <a:ext cx="2571750" cy="1743075"/>
          </a:xfrm>
          <a:prstGeom prst="roundRect">
            <a:avLst>
              <a:gd name="adj" fmla="val 4371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10650" y="3629025"/>
            <a:ext cx="2571750" cy="1743075"/>
          </a:xfrm>
          <a:prstGeom prst="roundRect">
            <a:avLst>
              <a:gd name="adj" fmla="val 4371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3629025"/>
            <a:ext cx="25717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09950" y="3490912"/>
            <a:ext cx="257175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0300" y="3629025"/>
            <a:ext cx="25717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010650" y="3629025"/>
            <a:ext cx="25717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9600" y="609600"/>
            <a:ext cx="1158240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Space Grotesk"/>
              </a:rPr>
              <a:t>System Inputs &amp; 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1724025"/>
            <a:ext cx="9525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111827"/>
                </a:solidFill>
                <a:latin typeface="Inter"/>
              </a:rPr>
              <a:t>Binary values dictate states: </a:t>
            </a:r>
            <a:r>
              <a:rPr sz="1500" b="1" i="0" u="none">
                <a:solidFill>
                  <a:srgbClr val="111827"/>
                </a:solidFill>
                <a:latin typeface="Inter"/>
              </a:rPr>
              <a:t>1 = Condition Satisfied (HIGH)</a:t>
            </a:r>
            <a:r>
              <a:rPr sz="1500" b="0" i="0" u="none">
                <a:solidFill>
                  <a:srgbClr val="111827"/>
                </a:solidFill>
                <a:latin typeface="Inter"/>
              </a:rPr>
              <a:t>, </a:t>
            </a:r>
            <a:r>
              <a:rPr sz="1500" b="1" i="0" u="none">
                <a:solidFill>
                  <a:srgbClr val="111827"/>
                </a:solidFill>
                <a:latin typeface="Inter"/>
              </a:rPr>
              <a:t>0 = Condition Not Satisfied (LOW)</a:t>
            </a:r>
            <a:r>
              <a:rPr sz="1500" b="0" i="0" u="none">
                <a:solidFill>
                  <a:srgbClr val="111827"/>
                </a:solidFill>
                <a:latin typeface="Inter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7814" y="3971925"/>
            <a:ext cx="2575321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111827"/>
                </a:solidFill>
                <a:latin typeface="Space Grotesk"/>
              </a:rPr>
              <a:t>Input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131" y="4505325"/>
            <a:ext cx="2452687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8164" y="3833812"/>
            <a:ext cx="2575321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111827"/>
                </a:solidFill>
                <a:latin typeface="Space Grotesk"/>
              </a:rPr>
              <a:t>Input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9481" y="4367212"/>
            <a:ext cx="2452687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EF4444"/>
                </a:solidFill>
                <a:latin typeface="Inter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9481" y="5043487"/>
            <a:ext cx="245268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11827"/>
                </a:solidFill>
                <a:latin typeface="Inter"/>
              </a:rPr>
              <a:t>Requires inversion.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514" y="3971925"/>
            <a:ext cx="2575321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111827"/>
                </a:solidFill>
                <a:latin typeface="Space Grotesk"/>
              </a:rPr>
              <a:t>Input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9831" y="4505325"/>
            <a:ext cx="2452687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Inter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8864" y="3971925"/>
            <a:ext cx="2575321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111827"/>
                </a:solidFill>
                <a:latin typeface="Space Grotesk"/>
              </a:rPr>
              <a:t>Input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181" y="4505325"/>
            <a:ext cx="2452687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247775"/>
            <a:ext cx="10972800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890837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7728" y="4291012"/>
            <a:ext cx="228600" cy="304800"/>
          </a:xfrm>
          <a:prstGeom prst="roundRect">
            <a:avLst>
              <a:gd name="adj" fmla="val 16666"/>
            </a:avLst>
          </a:prstGeom>
          <a:noFill/>
          <a:ln w="285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66328" y="4291012"/>
            <a:ext cx="152400" cy="304800"/>
          </a:xfrm>
          <a:prstGeom prst="rect">
            <a:avLst/>
          </a:prstGeom>
          <a:noFill/>
          <a:ln w="285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890837"/>
            <a:ext cx="494258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138612"/>
            <a:ext cx="437405" cy="60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4138612"/>
            <a:ext cx="506610" cy="609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254" y="3062287"/>
            <a:ext cx="3048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0325" y="3081337"/>
            <a:ext cx="17145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0825" y="3148012"/>
            <a:ext cx="95250" cy="95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1692" y="4310062"/>
            <a:ext cx="200025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609600"/>
            <a:ext cx="1158240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Space Grotesk"/>
              </a:rPr>
              <a:t>Hardware Components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2458" y="2890837"/>
            <a:ext cx="6052123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11827"/>
                </a:solidFill>
                <a:latin typeface="Space Grotesk"/>
              </a:rPr>
              <a:t>Four Input Pins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2458" y="3262312"/>
            <a:ext cx="4706391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B5563"/>
                </a:solidFill>
                <a:latin typeface="Inter"/>
              </a:rPr>
              <a:t>Generate 0 or 1 signals representing real-world sensor states.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890837"/>
            <a:ext cx="51054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11827"/>
                </a:solidFill>
                <a:latin typeface="Space Grotesk"/>
              </a:rPr>
              <a:t>One NOT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262312"/>
            <a:ext cx="51054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B5563"/>
                </a:solidFill>
                <a:latin typeface="Inter"/>
              </a:rPr>
              <a:t>Performs logical inversion specifically on Input 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5605" y="4138612"/>
            <a:ext cx="612674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11827"/>
                </a:solidFill>
                <a:latin typeface="Space Grotesk"/>
              </a:rPr>
              <a:t>4-Input AND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5605" y="4510087"/>
            <a:ext cx="4763244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B5563"/>
                </a:solidFill>
                <a:latin typeface="Inter"/>
              </a:rPr>
              <a:t>Validates all conditions simultaneously. Outputs 1 only if all inputs are 1.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3610" y="4138612"/>
            <a:ext cx="5208389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11827"/>
                </a:solidFill>
                <a:latin typeface="Space Grotesk"/>
              </a:rPr>
              <a:t>Door Access Indicator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3610" y="4510087"/>
            <a:ext cx="4694039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B5563"/>
                </a:solidFill>
                <a:latin typeface="Inter"/>
              </a:rPr>
              <a:t>Displays the final logical decision (Access Granted / Denied).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247775"/>
            <a:ext cx="10972800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81762" y="4595812"/>
            <a:ext cx="5100637" cy="666750"/>
          </a:xfrm>
          <a:prstGeom prst="roundRect">
            <a:avLst>
              <a:gd name="adj" fmla="val 11428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3667125"/>
            <a:ext cx="2149822" cy="1905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59422" y="3667125"/>
            <a:ext cx="2950815" cy="1905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81762" y="4595812"/>
            <a:ext cx="38100" cy="6667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291012"/>
            <a:ext cx="214982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59422" y="4291012"/>
            <a:ext cx="29508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4900612"/>
            <a:ext cx="214982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59422" y="4900612"/>
            <a:ext cx="29508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9600" y="3057525"/>
          <a:ext cx="5100637" cy="1857375"/>
        </p:xfrm>
        <a:graphic>
          <a:graphicData uri="http://schemas.openxmlformats.org/drawingml/2006/table">
            <a:tbl>
              <a:tblPr/>
              <a:tblGrid>
                <a:gridCol w="2149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0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1800" b="1" i="0" u="none">
                          <a:solidFill>
                            <a:srgbClr val="111827"/>
                          </a:solidFill>
                          <a:latin typeface="Space Grotesk"/>
                        </a:rPr>
                        <a:t>Input 2 (I₂)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u="none">
                          <a:solidFill>
                            <a:srgbClr val="111827"/>
                          </a:solidFill>
                          <a:latin typeface="Space Grotesk"/>
                        </a:rPr>
                        <a:t>NOT Input 2 (I₂')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111827"/>
                          </a:solidFill>
                          <a:latin typeface="Space Grotesk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u="none">
                          <a:solidFill>
                            <a:srgbClr val="0F172A"/>
                          </a:solidFill>
                          <a:latin typeface="Space Grotesk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111827"/>
                          </a:solidFill>
                          <a:latin typeface="Space Grotesk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111827"/>
                          </a:solidFill>
                          <a:latin typeface="Space Grotesk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09600" y="609600"/>
            <a:ext cx="1158240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Space Grotesk"/>
              </a:rPr>
              <a:t>The Role of the NOT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1762" y="2709862"/>
            <a:ext cx="5710237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11827"/>
                </a:solidFill>
                <a:latin typeface="Space Grotesk"/>
              </a:rPr>
              <a:t>The Reverse Condition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1762" y="3281362"/>
            <a:ext cx="5710237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111827"/>
                </a:solidFill>
                <a:latin typeface="Inter"/>
              </a:rPr>
              <a:t>The required state for Input 2 is 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1762" y="3795712"/>
            <a:ext cx="519588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111827"/>
                </a:solidFill>
                <a:latin typeface="Inter"/>
              </a:rPr>
              <a:t>However, the final AND gate requires a HIGH (1) signal to validate a condition.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462" y="4824412"/>
            <a:ext cx="5443537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11827"/>
                </a:solidFill>
                <a:latin typeface="Inter"/>
              </a:rPr>
              <a:t>I₂ = 0 → NOT Gate → 1 → Condition Satisfied.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247775"/>
            <a:ext cx="10972800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590675" y="4755802"/>
            <a:ext cx="901065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90675" y="5908327"/>
            <a:ext cx="901065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590675" y="4755802"/>
            <a:ext cx="901065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590675" y="4755802"/>
            <a:ext cx="38100" cy="1162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591800" y="4755802"/>
            <a:ext cx="9525" cy="1162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615" y="2054572"/>
            <a:ext cx="6912768" cy="1695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9215" y="2692747"/>
            <a:ext cx="5693568" cy="552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09600"/>
            <a:ext cx="1158240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Space Grotesk"/>
              </a:rPr>
              <a:t>The Decision Maker: AND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8745" y="4207222"/>
            <a:ext cx="4754507" cy="3013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sz="1800" b="0" i="0" u="none" dirty="0">
                <a:solidFill>
                  <a:srgbClr val="111827"/>
                </a:solidFill>
                <a:latin typeface="Inter"/>
              </a:rPr>
              <a:t>The output is 1 </a:t>
            </a:r>
            <a:r>
              <a:rPr sz="1800" b="1" i="0" u="none" dirty="0">
                <a:solidFill>
                  <a:srgbClr val="111827"/>
                </a:solidFill>
                <a:latin typeface="Inter"/>
              </a:rPr>
              <a:t>only</a:t>
            </a:r>
            <a:r>
              <a:rPr sz="1800" b="0" i="0" u="none" dirty="0">
                <a:solidFill>
                  <a:srgbClr val="111827"/>
                </a:solidFill>
                <a:latin typeface="Inter"/>
              </a:rPr>
              <a:t> when A=1, B=</a:t>
            </a:r>
            <a:r>
              <a:rPr lang="en-IN" sz="1800" b="0" i="0" u="none" dirty="0">
                <a:solidFill>
                  <a:srgbClr val="111827"/>
                </a:solidFill>
                <a:latin typeface="Inter"/>
              </a:rPr>
              <a:t>0</a:t>
            </a:r>
            <a:r>
              <a:rPr sz="1800" b="0" i="0" u="none" dirty="0">
                <a:solidFill>
                  <a:srgbClr val="111827"/>
                </a:solidFill>
                <a:latin typeface="Inter"/>
              </a:rPr>
              <a:t>, C=1, and D=1.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33575" y="5070127"/>
            <a:ext cx="102584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11827"/>
                </a:solidFill>
                <a:latin typeface="Inter"/>
              </a:rPr>
              <a:t>In our specific system: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3575" y="5374927"/>
            <a:ext cx="102584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Inter"/>
              </a:rPr>
              <a:t>The gate evaluates </a:t>
            </a:r>
            <a:r>
              <a:rPr sz="1350" b="1" i="0" u="none">
                <a:solidFill>
                  <a:srgbClr val="4B5563"/>
                </a:solidFill>
                <a:latin typeface="Inter"/>
              </a:rPr>
              <a:t>I₁, I₂', I₃, and I₄</a:t>
            </a:r>
            <a:r>
              <a:rPr sz="1350" b="0" i="0" u="none">
                <a:solidFill>
                  <a:srgbClr val="4B5563"/>
                </a:solidFill>
                <a:latin typeface="Inter"/>
              </a:rPr>
              <a:t>. All required conditions must be satisfied simultaneously for access.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247775"/>
            <a:ext cx="10972800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815780" y="2495550"/>
            <a:ext cx="6766619" cy="2981325"/>
          </a:xfrm>
          <a:prstGeom prst="roundRect">
            <a:avLst>
              <a:gd name="adj" fmla="val 3833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272980" y="4552950"/>
            <a:ext cx="5852219" cy="466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272980" y="4552950"/>
            <a:ext cx="5852219" cy="9525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435" y="3371403"/>
            <a:ext cx="4291161" cy="6340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609600"/>
            <a:ext cx="1158240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Space Grotesk"/>
              </a:rPr>
              <a:t>Deriving the Boolean Expression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967037"/>
            <a:ext cx="48767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111827"/>
                </a:solidFill>
                <a:latin typeface="Inter"/>
              </a:rPr>
              <a:t>Step 1:</a:t>
            </a:r>
            <a:r>
              <a:rPr sz="1500" b="0" i="0" u="none">
                <a:solidFill>
                  <a:srgbClr val="111827"/>
                </a:solidFill>
                <a:latin typeface="Inter"/>
              </a:rPr>
              <a:t> Define inputs.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405187"/>
            <a:ext cx="45909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B5563"/>
                </a:solidFill>
                <a:latin typeface="Inter"/>
              </a:rPr>
              <a:t>Input 1 → I₁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843337"/>
            <a:ext cx="45909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B5563"/>
                </a:solidFill>
                <a:latin typeface="Inter"/>
              </a:rPr>
              <a:t>Input 2 (must be 0) → I₂'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281487"/>
            <a:ext cx="45909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B5563"/>
                </a:solidFill>
                <a:latin typeface="Inter"/>
              </a:rPr>
              <a:t>Input 3 → I₃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719637"/>
            <a:ext cx="45909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B5563"/>
                </a:solidFill>
                <a:latin typeface="Inter"/>
              </a:rPr>
              <a:t>Input 4 → I₄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1453" y="2952750"/>
            <a:ext cx="7315274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0B981"/>
                </a:solidFill>
                <a:latin typeface="Inter"/>
              </a:rPr>
              <a:t>FINAL EXPRESSION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1453" y="4019550"/>
            <a:ext cx="731527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CA3AF"/>
                </a:solidFill>
                <a:latin typeface="Inter"/>
              </a:rPr>
              <a:t>D = Door Access, ' = NOT, · = 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3064" y="4791075"/>
            <a:ext cx="2572051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 dirty="0">
                <a:solidFill>
                  <a:srgbClr val="FFFFFF"/>
                </a:solidFill>
                <a:latin typeface="Inter"/>
              </a:rPr>
              <a:t>Success Proof: D = 1 · </a:t>
            </a:r>
            <a:r>
              <a:rPr lang="en-IN" sz="1500" b="1" i="0" u="none" dirty="0">
                <a:solidFill>
                  <a:srgbClr val="FFFFFF"/>
                </a:solidFill>
                <a:latin typeface="Inter"/>
              </a:rPr>
              <a:t>0</a:t>
            </a:r>
            <a:r>
              <a:rPr sz="1500" b="1" i="0" u="none" dirty="0">
                <a:solidFill>
                  <a:srgbClr val="FFFFFF"/>
                </a:solidFill>
                <a:latin typeface="Inter"/>
              </a:rPr>
              <a:t> · 1 · 1 =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247775"/>
            <a:ext cx="10972800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2305050"/>
            <a:ext cx="916037" cy="1905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25637" y="2305050"/>
            <a:ext cx="916037" cy="1905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441674" y="2305050"/>
            <a:ext cx="916037" cy="1905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357711" y="2305050"/>
            <a:ext cx="916037" cy="1905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273748" y="2305050"/>
            <a:ext cx="3225998" cy="1905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9746" y="2305050"/>
            <a:ext cx="4082653" cy="1905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9746" y="1724025"/>
            <a:ext cx="19050" cy="60007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2900362"/>
            <a:ext cx="91603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525637" y="2900362"/>
            <a:ext cx="91603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441674" y="2900362"/>
            <a:ext cx="91603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57711" y="2900362"/>
            <a:ext cx="91603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73748" y="2900362"/>
            <a:ext cx="3225998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99746" y="2900362"/>
            <a:ext cx="4082653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99746" y="2324100"/>
            <a:ext cx="19050" cy="585787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600" y="3481387"/>
            <a:ext cx="91603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525637" y="3481387"/>
            <a:ext cx="91603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41674" y="3481387"/>
            <a:ext cx="91603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357711" y="3481387"/>
            <a:ext cx="91603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73748" y="3481387"/>
            <a:ext cx="3225998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99746" y="3481387"/>
            <a:ext cx="4082653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99746" y="2909887"/>
            <a:ext cx="19050" cy="58102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9600" y="4062412"/>
            <a:ext cx="91603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525637" y="4062412"/>
            <a:ext cx="91603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441674" y="4062412"/>
            <a:ext cx="91603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357711" y="4062412"/>
            <a:ext cx="91603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73748" y="4062412"/>
            <a:ext cx="3225998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99746" y="4062412"/>
            <a:ext cx="4082653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499746" y="3490912"/>
            <a:ext cx="19050" cy="58102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09600" y="4643437"/>
            <a:ext cx="91603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525637" y="4643437"/>
            <a:ext cx="91603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441674" y="4643437"/>
            <a:ext cx="91603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357711" y="4643437"/>
            <a:ext cx="91603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73748" y="4643437"/>
            <a:ext cx="3225998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499746" y="4643437"/>
            <a:ext cx="4082653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499746" y="4071937"/>
            <a:ext cx="19050" cy="5810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09600" y="5224462"/>
            <a:ext cx="91603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525637" y="5224462"/>
            <a:ext cx="91603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441674" y="5224462"/>
            <a:ext cx="91603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357711" y="5224462"/>
            <a:ext cx="91603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273748" y="5224462"/>
            <a:ext cx="3225998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499746" y="5224462"/>
            <a:ext cx="4082653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499746" y="4652962"/>
            <a:ext cx="19050" cy="58102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09600" y="5805487"/>
            <a:ext cx="91603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525637" y="5805487"/>
            <a:ext cx="91603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441674" y="5805487"/>
            <a:ext cx="91603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357711" y="5805487"/>
            <a:ext cx="91603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273748" y="5805487"/>
            <a:ext cx="3225998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499746" y="5805487"/>
            <a:ext cx="4082653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499746" y="5233987"/>
            <a:ext cx="19050" cy="58102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609600" y="1724025"/>
          <a:ext cx="10972799" cy="4095750"/>
        </p:xfrm>
        <a:graphic>
          <a:graphicData uri="http://schemas.openxmlformats.org/drawingml/2006/table">
            <a:tbl>
              <a:tblPr/>
              <a:tblGrid>
                <a:gridCol w="916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6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6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60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59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826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5107">
                <a:tc>
                  <a:txBody>
                    <a:bodyPr/>
                    <a:lstStyle/>
                    <a:p>
                      <a:pPr algn="ctr"/>
                      <a:r>
                        <a:rPr sz="1650" b="1" i="0" u="none">
                          <a:solidFill>
                            <a:srgbClr val="111827"/>
                          </a:solidFill>
                          <a:latin typeface="Space Grotesk"/>
                        </a:rPr>
                        <a:t>I₁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 i="0" u="none">
                          <a:solidFill>
                            <a:srgbClr val="111827"/>
                          </a:solidFill>
                          <a:latin typeface="Space Grotesk"/>
                        </a:rPr>
                        <a:t>I₂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 i="0" u="none">
                          <a:solidFill>
                            <a:srgbClr val="111827"/>
                          </a:solidFill>
                          <a:latin typeface="Space Grotesk"/>
                        </a:rPr>
                        <a:t>I₃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 i="0" u="none">
                          <a:solidFill>
                            <a:srgbClr val="111827"/>
                          </a:solidFill>
                          <a:latin typeface="Space Grotesk"/>
                        </a:rPr>
                        <a:t>I₄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 i="0" u="none">
                          <a:solidFill>
                            <a:srgbClr val="6B7280"/>
                          </a:solidFill>
                          <a:latin typeface="Space Grotesk"/>
                        </a:rPr>
                        <a:t>I₂' (Internal)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 i="0" u="none">
                          <a:solidFill>
                            <a:srgbClr val="111827"/>
                          </a:solidFill>
                          <a:latin typeface="Space Grotesk"/>
                        </a:rPr>
                        <a:t>Door Access (D)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111827"/>
                          </a:solidFill>
                          <a:latin typeface="Space Grotesk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111827"/>
                          </a:solidFill>
                          <a:latin typeface="Space Grotesk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111827"/>
                          </a:solidFill>
                          <a:latin typeface="Space Grotesk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111827"/>
                          </a:solidFill>
                          <a:latin typeface="Space Grotesk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111827"/>
                          </a:solidFill>
                          <a:latin typeface="Space Grotesk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111827"/>
                          </a:solidFill>
                          <a:latin typeface="Space Grotesk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111827"/>
                          </a:solidFill>
                          <a:latin typeface="Space Grotesk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111827"/>
                          </a:solidFill>
                          <a:latin typeface="Space Grotesk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111827"/>
                          </a:solidFill>
                          <a:latin typeface="Space Grotesk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111827"/>
                          </a:solidFill>
                          <a:latin typeface="Space Grotesk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111827"/>
                          </a:solidFill>
                          <a:latin typeface="Space Grotesk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111827"/>
                          </a:solidFill>
                          <a:latin typeface="Space Grotesk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111827"/>
                          </a:solidFill>
                          <a:latin typeface="Space Grotesk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111827"/>
                          </a:solidFill>
                          <a:latin typeface="Space Grotesk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111827"/>
                          </a:solidFill>
                          <a:latin typeface="Space Grotesk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pPr algn="ctr"/>
                      <a:r>
                        <a:rPr sz="1650" b="1" i="0" u="none">
                          <a:solidFill>
                            <a:srgbClr val="0F172A"/>
                          </a:solidFill>
                          <a:latin typeface="Space Grotesk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 i="0" u="none">
                          <a:solidFill>
                            <a:srgbClr val="0F172A"/>
                          </a:solidFill>
                          <a:latin typeface="Space Grotesk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 i="0" u="none">
                          <a:solidFill>
                            <a:srgbClr val="0F172A"/>
                          </a:solidFill>
                          <a:latin typeface="Space Grotesk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 i="0" u="none">
                          <a:solidFill>
                            <a:srgbClr val="0F172A"/>
                          </a:solidFill>
                          <a:latin typeface="Space Grotesk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 i="0" u="none">
                          <a:solidFill>
                            <a:srgbClr val="0F172A"/>
                          </a:solidFill>
                          <a:latin typeface="Space Grotesk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 i="0" u="none">
                          <a:solidFill>
                            <a:srgbClr val="0F172A"/>
                          </a:solidFill>
                          <a:latin typeface="Space Grotesk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111827"/>
                          </a:solidFill>
                          <a:latin typeface="Space Grotesk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111827"/>
                          </a:solidFill>
                          <a:latin typeface="Space Grotesk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111827"/>
                          </a:solidFill>
                          <a:latin typeface="Space Grotesk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111827"/>
                          </a:solidFill>
                          <a:latin typeface="Space Grotesk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111827"/>
                          </a:solidFill>
                          <a:latin typeface="Space Grotesk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108">
                <a:tc>
                  <a:txBody>
                    <a:bodyPr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111827"/>
                          </a:solidFill>
                          <a:latin typeface="Space Grotesk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111827"/>
                          </a:solidFill>
                          <a:latin typeface="Space Grotesk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111827"/>
                          </a:solidFill>
                          <a:latin typeface="Space Grotesk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111827"/>
                          </a:solidFill>
                          <a:latin typeface="Space Grotesk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111827"/>
                          </a:solidFill>
                          <a:latin typeface="Space Grotesk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3" name="TextBox 52"/>
          <p:cNvSpPr txBox="1"/>
          <p:nvPr/>
        </p:nvSpPr>
        <p:spPr>
          <a:xfrm>
            <a:off x="609600" y="609600"/>
            <a:ext cx="1158240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Space Grotesk"/>
              </a:rPr>
              <a:t>System Truth Table Verification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-381000" y="6048375"/>
            <a:ext cx="12954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B5563"/>
                </a:solidFill>
                <a:latin typeface="Inter"/>
              </a:rPr>
              <a:t>*Showing 6 representative rows out of 16 possible combinations.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B6801-7A6A-1D00-5E91-2BE842B2D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The image depicts a K-Map simplification process, showing a boolean function decomposition for a keypad input system, grouping adjacent ones and forming a simplified SOP (Sum of Products) form.">
            <a:extLst>
              <a:ext uri="{FF2B5EF4-FFF2-40B4-BE49-F238E27FC236}">
                <a16:creationId xmlns:a16="http://schemas.microsoft.com/office/drawing/2014/main" id="{D8279949-5D1C-7805-DD74-4ADD4CEC1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775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247775"/>
            <a:ext cx="10972800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0" y="2557462"/>
            <a:ext cx="3810000" cy="285750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38200" y="2538412"/>
            <a:ext cx="38100" cy="28956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Space Grotesk"/>
              </a:rPr>
              <a:t>Logisim Implementation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05837" y="3786187"/>
            <a:ext cx="21431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Space Grotesk"/>
              </a:rPr>
              <a:t>Direct Translation</a:t>
            </a:r>
            <a:r>
              <a:t>
</a:t>
            </a:r>
            <a:r>
              <a:rPr sz="1200" b="1" i="0" u="none">
                <a:solidFill>
                  <a:srgbClr val="0F172A"/>
                </a:solidFill>
                <a:latin typeface="Space Grotesk"/>
              </a:rPr>
              <a:t> Expression → Hardware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2309812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9600" y="3262312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09600" y="4214812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9600" y="5167312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725" y="2309812"/>
            <a:ext cx="781050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Space Grotesk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2414587"/>
            <a:ext cx="44291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111827"/>
                </a:solidFill>
                <a:latin typeface="Inter"/>
              </a:rPr>
              <a:t>Place and label four input components.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725" y="3262312"/>
            <a:ext cx="781050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Space Grotesk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3367087"/>
            <a:ext cx="4393406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111827"/>
                </a:solidFill>
                <a:latin typeface="Inter"/>
              </a:rPr>
              <a:t>Place a NOT gate directly after Input 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725" y="4214812"/>
            <a:ext cx="781050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Space Grotesk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4319587"/>
            <a:ext cx="45243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111827"/>
                </a:solidFill>
                <a:latin typeface="Inter"/>
              </a:rPr>
              <a:t>Connect I₁, I₂', I₃, and I₄ to the AND gate.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725" y="5167312"/>
            <a:ext cx="781050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F8FAFC"/>
                </a:solidFill>
                <a:latin typeface="Space Grotesk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3500" y="5272087"/>
            <a:ext cx="5726906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111827"/>
                </a:solidFill>
                <a:latin typeface="Inter"/>
              </a:rPr>
              <a:t>Connect AND output to the Door Access indicator.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33475"/>
            <a:ext cx="10972800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102649" y="1609725"/>
            <a:ext cx="3479750" cy="2209800"/>
          </a:xfrm>
          <a:prstGeom prst="roundRect">
            <a:avLst>
              <a:gd name="adj" fmla="val 3703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102648" y="1609725"/>
            <a:ext cx="45719" cy="22098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81126"/>
            <a:ext cx="6538623" cy="36235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95300"/>
            <a:ext cx="1158240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Space Grotesk"/>
              </a:rPr>
              <a:t>Actual Logisim Circuit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45549" y="1914525"/>
            <a:ext cx="354006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F4444"/>
                </a:solidFill>
                <a:latin typeface="Inter"/>
              </a:rPr>
              <a:t>CURRENT STATE OBSERVATION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5549" y="2152650"/>
            <a:ext cx="1216295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111827"/>
                </a:solidFill>
                <a:latin typeface="Inter"/>
              </a:rPr>
              <a:t>Access </a:t>
            </a:r>
            <a:r>
              <a:rPr lang="en-IN" sz="1500" b="1" dirty="0">
                <a:solidFill>
                  <a:srgbClr val="111827"/>
                </a:solidFill>
                <a:latin typeface="Inter"/>
              </a:rPr>
              <a:t>Granted</a:t>
            </a:r>
            <a:endParaRPr sz="1500" b="1" i="0" u="none" dirty="0">
              <a:solidFill>
                <a:srgbClr val="111827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45549" y="2457450"/>
            <a:ext cx="2927300" cy="1292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4B5563"/>
                </a:solidFill>
                <a:latin typeface="monospace"/>
              </a:rPr>
              <a:t>The screenshot currently has:</a:t>
            </a:r>
            <a:r>
              <a:rPr dirty="0"/>
              <a:t>
</a:t>
            </a:r>
            <a:r>
              <a:rPr sz="1200" b="0" i="0" u="none" dirty="0">
                <a:solidFill>
                  <a:srgbClr val="4B5563"/>
                </a:solidFill>
                <a:latin typeface="monospace"/>
              </a:rPr>
              <a:t> I1 = </a:t>
            </a:r>
            <a:r>
              <a:rPr lang="en-IN" sz="1200" b="0" i="0" u="none" dirty="0">
                <a:solidFill>
                  <a:srgbClr val="4B5563"/>
                </a:solidFill>
                <a:latin typeface="monospace"/>
              </a:rPr>
              <a:t>1</a:t>
            </a:r>
            <a:r>
              <a:rPr dirty="0"/>
              <a:t>
</a:t>
            </a:r>
            <a:r>
              <a:rPr sz="1200" b="0" i="0" u="none" dirty="0">
                <a:solidFill>
                  <a:srgbClr val="4B5563"/>
                </a:solidFill>
                <a:latin typeface="monospace"/>
              </a:rPr>
              <a:t> I2 = 0</a:t>
            </a:r>
            <a:r>
              <a:rPr dirty="0"/>
              <a:t>
</a:t>
            </a:r>
            <a:r>
              <a:rPr sz="1200" b="0" i="0" u="none" dirty="0">
                <a:solidFill>
                  <a:srgbClr val="4B5563"/>
                </a:solidFill>
                <a:latin typeface="monospace"/>
              </a:rPr>
              <a:t> I3 = </a:t>
            </a:r>
            <a:r>
              <a:rPr lang="en-IN" sz="1200" b="0" i="0" u="none" dirty="0">
                <a:solidFill>
                  <a:srgbClr val="4B5563"/>
                </a:solidFill>
                <a:latin typeface="monospace"/>
              </a:rPr>
              <a:t>1</a:t>
            </a:r>
            <a:r>
              <a:rPr dirty="0"/>
              <a:t>
</a:t>
            </a:r>
            <a:r>
              <a:rPr sz="1200" b="0" i="0" u="none" dirty="0">
                <a:solidFill>
                  <a:srgbClr val="4B5563"/>
                </a:solidFill>
                <a:latin typeface="monospace"/>
              </a:rPr>
              <a:t> I4 = </a:t>
            </a:r>
            <a:r>
              <a:rPr lang="en-IN" sz="1200" b="0" i="0" u="none" dirty="0">
                <a:solidFill>
                  <a:srgbClr val="4B5563"/>
                </a:solidFill>
                <a:latin typeface="monospace"/>
              </a:rPr>
              <a:t>1</a:t>
            </a:r>
            <a:endParaRPr sz="1200" b="0" i="0" u="none" dirty="0">
              <a:solidFill>
                <a:srgbClr val="4B5563"/>
              </a:solidFill>
              <a:latin typeface="monospace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482801" y="3103781"/>
            <a:ext cx="189004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EF4444"/>
                </a:solidFill>
                <a:latin typeface="Inter"/>
              </a:rPr>
              <a:t>Door Access = </a:t>
            </a:r>
            <a:r>
              <a:rPr lang="en-IN" sz="2000" b="1" i="0" u="none" dirty="0">
                <a:solidFill>
                  <a:srgbClr val="EF4444"/>
                </a:solidFill>
                <a:latin typeface="Inter"/>
              </a:rPr>
              <a:t>1</a:t>
            </a:r>
            <a:endParaRPr sz="2000" b="1" i="0" u="none" dirty="0">
              <a:solidFill>
                <a:srgbClr val="EF4444"/>
              </a:solidFill>
              <a:latin typeface="Inter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8686694-997A-5532-15D4-BDE5E8007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89" y="1485285"/>
            <a:ext cx="6320563" cy="337695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247775"/>
            <a:ext cx="10972800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724025"/>
            <a:ext cx="5372100" cy="1819275"/>
          </a:xfrm>
          <a:prstGeom prst="roundRect">
            <a:avLst>
              <a:gd name="adj" fmla="val 4188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1724025"/>
            <a:ext cx="5372100" cy="1819275"/>
          </a:xfrm>
          <a:prstGeom prst="roundRect">
            <a:avLst>
              <a:gd name="adj" fmla="val 4188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771900"/>
            <a:ext cx="5372100" cy="2038350"/>
          </a:xfrm>
          <a:prstGeom prst="roundRect">
            <a:avLst>
              <a:gd name="adj" fmla="val 3738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0300" y="3771900"/>
            <a:ext cx="5372100" cy="2038350"/>
          </a:xfrm>
          <a:prstGeom prst="roundRect">
            <a:avLst>
              <a:gd name="adj" fmla="val 3738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1724025"/>
            <a:ext cx="38100" cy="18192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0300" y="1724025"/>
            <a:ext cx="38100" cy="18192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3771900"/>
            <a:ext cx="38100" cy="20383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0300" y="3771900"/>
            <a:ext cx="38100" cy="20383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9600" y="609600"/>
            <a:ext cx="1158240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Space Grotesk"/>
              </a:rPr>
              <a:t>Circuit Testing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381000" y="6115050"/>
            <a:ext cx="12954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11827"/>
                </a:solidFill>
                <a:latin typeface="Inter"/>
              </a:rPr>
              <a:t>Only one specific combination satisfies all four required conditions.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2028825"/>
            <a:ext cx="62007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111827"/>
                </a:solidFill>
                <a:latin typeface="Space Grotesk"/>
              </a:rPr>
              <a:t>TEST CASE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2400300"/>
            <a:ext cx="59055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11827"/>
                </a:solidFill>
                <a:latin typeface="monospace"/>
              </a:rPr>
              <a:t>I: 0 0 0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2028825"/>
            <a:ext cx="5638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47857"/>
                </a:solidFill>
                <a:latin typeface="Space Grotesk"/>
              </a:rPr>
              <a:t>TEST CASE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2400300"/>
            <a:ext cx="56388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47857"/>
                </a:solidFill>
                <a:latin typeface="monospace"/>
              </a:rPr>
              <a:t>I: 1 0 1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" y="4076700"/>
            <a:ext cx="62007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111827"/>
                </a:solidFill>
                <a:latin typeface="Space Grotesk"/>
              </a:rPr>
              <a:t>TEST CASE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" y="4448175"/>
            <a:ext cx="59055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11827"/>
                </a:solidFill>
                <a:latin typeface="monospace"/>
              </a:rPr>
              <a:t>I: 1 1 1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200" y="4076700"/>
            <a:ext cx="5638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111827"/>
                </a:solidFill>
                <a:latin typeface="Space Grotesk"/>
              </a:rPr>
              <a:t>TEST CASE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200" y="4557712"/>
            <a:ext cx="56388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11827"/>
                </a:solidFill>
                <a:latin typeface="monospace"/>
              </a:rPr>
              <a:t>I: 1 0 1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" y="2819400"/>
            <a:ext cx="5905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11827"/>
                </a:solidFill>
                <a:latin typeface="Inter"/>
              </a:rPr>
              <a:t>D =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500" y="3048000"/>
            <a:ext cx="5905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F4444"/>
                </a:solidFill>
                <a:latin typeface="Inter"/>
              </a:rPr>
              <a:t>Access denied.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200" y="2819400"/>
            <a:ext cx="56388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47857"/>
                </a:solidFill>
                <a:latin typeface="Inter"/>
              </a:rPr>
              <a:t>D =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200" y="3048000"/>
            <a:ext cx="56388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Access granted.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500" y="4867275"/>
            <a:ext cx="59055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B7280"/>
                </a:solidFill>
                <a:latin typeface="Inter"/>
              </a:rPr>
              <a:t>(I₂' becomes 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500" y="5086350"/>
            <a:ext cx="5905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11827"/>
                </a:solidFill>
                <a:latin typeface="Inter"/>
              </a:rPr>
              <a:t>D = 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500" y="5314950"/>
            <a:ext cx="5905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F4444"/>
                </a:solidFill>
                <a:latin typeface="Inter"/>
              </a:rPr>
              <a:t>Access denied.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3200" y="5086350"/>
            <a:ext cx="56388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11827"/>
                </a:solidFill>
                <a:latin typeface="Inter"/>
              </a:rPr>
              <a:t>D =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3200" y="5314950"/>
            <a:ext cx="56388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F4444"/>
                </a:solidFill>
                <a:latin typeface="Inter"/>
              </a:rPr>
              <a:t>Access denied.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247775"/>
            <a:ext cx="10972800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809750" y="3752850"/>
            <a:ext cx="8572500" cy="1828800"/>
          </a:xfrm>
          <a:prstGeom prst="roundRect">
            <a:avLst>
              <a:gd name="adj" fmla="val 4166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00162" y="2390775"/>
            <a:ext cx="1714500" cy="752475"/>
          </a:xfrm>
          <a:prstGeom prst="roundRect">
            <a:avLst>
              <a:gd name="adj" fmla="val 10126"/>
            </a:avLst>
          </a:prstGeom>
          <a:noFill/>
          <a:ln w="19050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71887" y="2395537"/>
            <a:ext cx="2095500" cy="742950"/>
          </a:xfrm>
          <a:prstGeom prst="roundRect">
            <a:avLst>
              <a:gd name="adj" fmla="val 10256"/>
            </a:avLst>
          </a:prstGeom>
          <a:solidFill>
            <a:srgbClr val="FEF2F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24612" y="2395537"/>
            <a:ext cx="2095500" cy="742950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77337" y="2395537"/>
            <a:ext cx="1714500" cy="742950"/>
          </a:xfrm>
          <a:prstGeom prst="roundRect">
            <a:avLst>
              <a:gd name="adj" fmla="val 10256"/>
            </a:avLst>
          </a:prstGeom>
          <a:solidFill>
            <a:srgbClr val="111827"/>
          </a:solidFill>
          <a:ln w="19050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09750" y="3752850"/>
            <a:ext cx="38100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262" y="2652712"/>
            <a:ext cx="20002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987" y="2652712"/>
            <a:ext cx="20002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8712" y="2652712"/>
            <a:ext cx="200025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609600"/>
            <a:ext cx="1158240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Space Grotesk"/>
              </a:rPr>
              <a:t>System Architecture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6115" y="4218665"/>
            <a:ext cx="7739743" cy="8971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111827"/>
                </a:solidFill>
                <a:latin typeface="Inter"/>
              </a:rPr>
              <a:t>The circuit receives four digital inputs. Input 2 is inverted because its required condition is LOW. The four resulting conditions are then evaluated by the AND gate. </a:t>
            </a:r>
            <a:r>
              <a:rPr sz="1500" b="1" i="0" u="none">
                <a:solidFill>
                  <a:srgbClr val="111827"/>
                </a:solidFill>
                <a:latin typeface="Inter"/>
              </a:rPr>
              <a:t>Only when every required condition is HIGH does the Door Access output become HIGH.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137" y="2562225"/>
            <a:ext cx="13525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11827"/>
                </a:solidFill>
                <a:latin typeface="Space Grotesk"/>
              </a:rPr>
              <a:t>INPUTS</a:t>
            </a:r>
            <a:r>
              <a:t>
</a:t>
            </a:r>
            <a:r>
              <a:rPr sz="1200" b="1" i="0" u="none">
                <a:solidFill>
                  <a:srgbClr val="111827"/>
                </a:solidFill>
                <a:latin typeface="Space Grotesk"/>
              </a:rPr>
              <a:t> I₁, I₂, I₃, I₄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4762" y="2566987"/>
            <a:ext cx="1809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11827"/>
                </a:solidFill>
                <a:latin typeface="Space Grotesk"/>
              </a:rPr>
              <a:t>NOT GATE</a:t>
            </a:r>
            <a:r>
              <a:t>
</a:t>
            </a:r>
            <a:r>
              <a:rPr sz="1050" b="0" i="0" u="none">
                <a:solidFill>
                  <a:srgbClr val="4B5563"/>
                </a:solidFill>
                <a:latin typeface="Space Grotesk"/>
              </a:rPr>
              <a:t>Inverts I₂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7487" y="2566987"/>
            <a:ext cx="1809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11827"/>
                </a:solidFill>
                <a:latin typeface="Space Grotesk"/>
              </a:rPr>
              <a:t>AND GATE</a:t>
            </a:r>
            <a:r>
              <a:t>
</a:t>
            </a:r>
            <a:r>
              <a:rPr sz="1050" b="0" i="0" u="none">
                <a:solidFill>
                  <a:srgbClr val="4B5563"/>
                </a:solidFill>
                <a:latin typeface="Space Grotesk"/>
              </a:rPr>
              <a:t>Evaluates I₁, I₂', I₃, I₄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58312" y="2566987"/>
            <a:ext cx="13525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Space Grotesk"/>
              </a:rPr>
              <a:t>OUTPUT</a:t>
            </a:r>
            <a:r>
              <a:t>
</a:t>
            </a:r>
            <a:r>
              <a:rPr sz="1050" b="0" i="0" u="none">
                <a:solidFill>
                  <a:srgbClr val="9CA3AF"/>
                </a:solidFill>
                <a:latin typeface="Space Grotesk"/>
              </a:rPr>
              <a:t>Decision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247775"/>
            <a:ext cx="10972800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590800"/>
            <a:ext cx="5334000" cy="2790825"/>
          </a:xfrm>
          <a:prstGeom prst="roundRect">
            <a:avLst>
              <a:gd name="adj" fmla="val 4095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509962"/>
            <a:ext cx="13335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852862"/>
            <a:ext cx="13335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195762"/>
            <a:ext cx="1333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38662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881562"/>
            <a:ext cx="13335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609600"/>
            <a:ext cx="1158240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Space Grotesk"/>
              </a:rPr>
              <a:t>Design Effectiveness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919412"/>
            <a:ext cx="700087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11827"/>
                </a:solidFill>
                <a:latin typeface="Space Grotesk"/>
              </a:rPr>
              <a:t>Key Advantages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3490912"/>
            <a:ext cx="6381750" cy="1905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Simple architecture: Minimal components required.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3833812"/>
            <a:ext cx="6381750" cy="1905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Fast response: Instantaneous propagation delay.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4176712"/>
            <a:ext cx="6381750" cy="1905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No clock required: Operates purely on state changes.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350" y="4519612"/>
            <a:ext cx="6381750" cy="1905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Easy troubleshooting: Direct input-to-output relationship.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" y="4862512"/>
            <a:ext cx="6381750" cy="1905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Educational clarity: Clearly demonstrates Boolean logic.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5600" y="3048000"/>
            <a:ext cx="54864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0B981"/>
                </a:solidFill>
                <a:latin typeface="Space Grotesk"/>
              </a:rPr>
              <a:t>Proof of Effectiveness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600" y="3495675"/>
            <a:ext cx="4514850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Inter"/>
              </a:rPr>
              <a:t>The circuit is highly effective at implementing the exact access rule defined by the Boolean expression. Its reliability is proven by the truth table and validated through Logisim simulation testing.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247775"/>
            <a:ext cx="10972800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1237" y="1724025"/>
            <a:ext cx="9525" cy="452437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2171700"/>
            <a:ext cx="502443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57962" y="2171700"/>
            <a:ext cx="502443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Space Grotesk"/>
              </a:rPr>
              <a:t>Limitations &amp; Future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724025"/>
            <a:ext cx="5375671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F4444"/>
                </a:solidFill>
                <a:latin typeface="Space Grotesk"/>
              </a:rPr>
              <a:t>Current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7962" y="1724025"/>
            <a:ext cx="5375671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Future Enhancements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409825"/>
            <a:ext cx="628054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EF4444"/>
                </a:solidFill>
                <a:latin typeface="Inter"/>
              </a:rPr>
              <a:t>×</a:t>
            </a:r>
            <a:r>
              <a:rPr sz="1350" b="0" i="0" u="none">
                <a:solidFill>
                  <a:srgbClr val="111827"/>
                </a:solidFill>
                <a:latin typeface="Inter"/>
              </a:rPr>
              <a:t> Fixed access conditions.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724150"/>
            <a:ext cx="628054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EF4444"/>
                </a:solidFill>
                <a:latin typeface="Inter"/>
              </a:rPr>
              <a:t>×</a:t>
            </a:r>
            <a:r>
              <a:rPr sz="1350" b="0" i="0" u="none">
                <a:solidFill>
                  <a:srgbClr val="111827"/>
                </a:solidFill>
                <a:latin typeface="Inter"/>
              </a:rPr>
              <a:t> No user identification/authentication.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038475"/>
            <a:ext cx="628054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EF4444"/>
                </a:solidFill>
                <a:latin typeface="Inter"/>
              </a:rPr>
              <a:t>×</a:t>
            </a:r>
            <a:r>
              <a:rPr sz="1350" b="0" i="0" u="none">
                <a:solidFill>
                  <a:srgbClr val="111827"/>
                </a:solidFill>
                <a:latin typeface="Inter"/>
              </a:rPr>
              <a:t> No password storage or database.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352800"/>
            <a:ext cx="628054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EF4444"/>
                </a:solidFill>
                <a:latin typeface="Inter"/>
              </a:rPr>
              <a:t>×</a:t>
            </a:r>
            <a:r>
              <a:rPr sz="1350" b="0" i="0" u="none">
                <a:solidFill>
                  <a:srgbClr val="111827"/>
                </a:solidFill>
                <a:latin typeface="Inter"/>
              </a:rPr>
              <a:t> No event logging or invalid-attempt alarms.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667125"/>
            <a:ext cx="628054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EF4444"/>
                </a:solidFill>
                <a:latin typeface="Inter"/>
              </a:rPr>
              <a:t>×</a:t>
            </a:r>
            <a:r>
              <a:rPr sz="1350" b="0" i="0" u="none">
                <a:solidFill>
                  <a:srgbClr val="111827"/>
                </a:solidFill>
                <a:latin typeface="Inter"/>
              </a:rPr>
              <a:t> Not suitable as a complete commercial system.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7962" y="2409825"/>
            <a:ext cx="56340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F172A"/>
                </a:solidFill>
                <a:latin typeface="Inter"/>
              </a:rPr>
              <a:t>+</a:t>
            </a:r>
            <a:r>
              <a:rPr sz="1350" b="0" i="0" u="none">
                <a:solidFill>
                  <a:srgbClr val="111827"/>
                </a:solidFill>
                <a:latin typeface="Inter"/>
              </a:rPr>
              <a:t> Keypad, RFID, or Biometric integration.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7962" y="2724150"/>
            <a:ext cx="56340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F172A"/>
                </a:solidFill>
                <a:latin typeface="Inter"/>
              </a:rPr>
              <a:t>+</a:t>
            </a:r>
            <a:r>
              <a:rPr sz="1350" b="0" i="0" u="none">
                <a:solidFill>
                  <a:srgbClr val="111827"/>
                </a:solidFill>
                <a:latin typeface="Inter"/>
              </a:rPr>
              <a:t> Microcontroller integration for dynamic rules.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7962" y="3038475"/>
            <a:ext cx="56340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F172A"/>
                </a:solidFill>
                <a:latin typeface="Inter"/>
              </a:rPr>
              <a:t>+</a:t>
            </a:r>
            <a:r>
              <a:rPr sz="1350" b="0" i="0" u="none">
                <a:solidFill>
                  <a:srgbClr val="111827"/>
                </a:solidFill>
                <a:latin typeface="Inter"/>
              </a:rPr>
              <a:t> LCD/OLED status display interfaces.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7962" y="3352800"/>
            <a:ext cx="56340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F172A"/>
                </a:solidFill>
                <a:latin typeface="Inter"/>
              </a:rPr>
              <a:t>+</a:t>
            </a:r>
            <a:r>
              <a:rPr sz="1350" b="0" i="0" u="none">
                <a:solidFill>
                  <a:srgbClr val="111827"/>
                </a:solidFill>
                <a:latin typeface="Inter"/>
              </a:rPr>
              <a:t> Sequential logic for temporary access states.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7962" y="3667125"/>
            <a:ext cx="56340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F172A"/>
                </a:solidFill>
                <a:latin typeface="Inter"/>
              </a:rPr>
              <a:t>+</a:t>
            </a:r>
            <a:r>
              <a:rPr sz="1350" b="0" i="0" u="none">
                <a:solidFill>
                  <a:srgbClr val="111827"/>
                </a:solidFill>
                <a:latin typeface="Inter"/>
              </a:rPr>
              <a:t> IoT monitoring and remote management.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0391" y="2929383"/>
            <a:ext cx="3071217" cy="4381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0296" y="1777454"/>
            <a:ext cx="11251406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10B981"/>
                </a:solidFill>
                <a:latin typeface="Space Grotesk"/>
              </a:rPr>
              <a:t>Project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8187" y="2387054"/>
            <a:ext cx="10715625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F9FAFB"/>
                </a:solidFill>
                <a:latin typeface="Inter"/>
              </a:rPr>
              <a:t>4 Inputs + 1 NOT Gate + 1 AND Gate = Access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8187" y="3396704"/>
            <a:ext cx="10715625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sz="1800" b="0" i="0" u="none">
                <a:solidFill>
                  <a:srgbClr val="D1D5DB"/>
                </a:solidFill>
                <a:latin typeface="Inter"/>
              </a:rPr>
              <a:t>This project demonstrates that even a practical security decision can be represented, verified, and simulated using fundamental combinational logic.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296" y="4493865"/>
            <a:ext cx="11251406" cy="586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sz="4200" b="1" i="0" u="none">
                <a:solidFill>
                  <a:srgbClr val="F9FAFB"/>
                </a:solidFill>
                <a:latin typeface="Space Grotesk"/>
              </a:rPr>
              <a:t>Thank You</a:t>
            </a:r>
          </a:p>
        </p:txBody>
      </p:sp>
      <p:pic>
        <p:nvPicPr>
          <p:cNvPr id="8" name="Picture 7" descr="DEEMED TO BE U NIVERSITY&#10;&#10;AI-generated content may be incorrect.">
            <a:extLst>
              <a:ext uri="{FF2B5EF4-FFF2-40B4-BE49-F238E27FC236}">
                <a16:creationId xmlns:a16="http://schemas.microsoft.com/office/drawing/2014/main" id="{08CDD2F1-84A4-42B0-9038-55B56BE24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184" y="5537746"/>
            <a:ext cx="2733675" cy="11715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7A35AF1-6326-747E-63D6-2DE7440351D5}"/>
                  </a:ext>
                </a:extLst>
              </p14:cNvPr>
              <p14:cNvContentPartPr/>
              <p14:nvPr/>
            </p14:nvContentPartPr>
            <p14:xfrm>
              <a:off x="8555510" y="4420659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7A35AF1-6326-747E-63D6-2DE7440351D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92510" y="4358019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169A208-BEC3-C7C1-F359-9A00A91FF4AD}"/>
                  </a:ext>
                </a:extLst>
              </p14:cNvPr>
              <p14:cNvContentPartPr/>
              <p14:nvPr/>
            </p14:nvContentPartPr>
            <p14:xfrm>
              <a:off x="1820630" y="3005499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169A208-BEC3-C7C1-F359-9A00A91FF4A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7990" y="2942499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37</TotalTime>
  <Words>986</Words>
  <Application>Microsoft Office PowerPoint</Application>
  <PresentationFormat>Widescreen</PresentationFormat>
  <Paragraphs>180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monospace</vt:lpstr>
      <vt:lpstr>Inter</vt:lpstr>
      <vt:lpstr>Neue Haas Grotesk Text Pro</vt:lpstr>
      <vt:lpstr>Space Grotesk</vt:lpstr>
      <vt:lpstr>Arial</vt:lpstr>
      <vt:lpstr>Film Burn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Arjun</dc:creator>
  <cp:keywords/>
  <dc:description>generated using python-pptx</dc:description>
  <cp:lastModifiedBy>Arjun Kireeti Nagumalli</cp:lastModifiedBy>
  <cp:revision>4</cp:revision>
  <dcterms:created xsi:type="dcterms:W3CDTF">2013-01-27T09:14:16Z</dcterms:created>
  <dcterms:modified xsi:type="dcterms:W3CDTF">2026-10-15T07:28:48Z</dcterms:modified>
  <cp:category/>
</cp:coreProperties>
</file>